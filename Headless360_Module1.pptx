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2D60"/>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88720" y="1371600"/>
            <a:ext cx="9811512" cy="182880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200" b="1">
                <a:solidFill>
                  <a:srgbClr val="FFFFFF"/>
                </a:solidFill>
              </a:rPr>
              <a:t>Headless 360</a:t>
            </a:r>
          </a:p>
        </p:txBody>
      </p:sp>
      <p:sp>
        <p:nvSpPr>
          <p:cNvPr id="4" name="Rounded Rectangle 3"/>
          <p:cNvSpPr/>
          <p:nvPr/>
        </p:nvSpPr>
        <p:spPr>
          <a:xfrm>
            <a:off x="1188720" y="3337560"/>
            <a:ext cx="9811512" cy="731520"/>
          </a:xfrm>
          <a:prstGeom prst="roundRect">
            <a:avLst/>
          </a:prstGeom>
          <a:solidFill>
            <a:srgbClr val="044E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CCE5FF"/>
                </a:solidFill>
              </a:rPr>
              <a:t>AI-Powered Salesforce  |  No Browser Required</a:t>
            </a:r>
          </a:p>
        </p:txBody>
      </p:sp>
      <p:sp>
        <p:nvSpPr>
          <p:cNvPr id="5" name="Rounded Rectangle 4"/>
          <p:cNvSpPr/>
          <p:nvPr/>
        </p:nvSpPr>
        <p:spPr>
          <a:xfrm>
            <a:off x="3474720" y="4206240"/>
            <a:ext cx="5239512" cy="50292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Module 1: Introduction &amp; MCP Fundamentals</a:t>
            </a:r>
          </a:p>
        </p:txBody>
      </p:sp>
      <p:sp>
        <p:nvSpPr>
          <p:cNvPr id="6" name="Rectangle 5"/>
          <p:cNvSpPr/>
          <p:nvPr/>
        </p:nvSpPr>
        <p:spPr>
          <a:xfrm>
            <a:off x="0" y="6629400"/>
            <a:ext cx="12188952" cy="228600"/>
          </a:xfrm>
          <a:prstGeom prst="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56832"/>
            <a:ext cx="4572000" cy="228600"/>
          </a:xfrm>
          <a:prstGeom prst="rect">
            <a:avLst/>
          </a:prstGeom>
          <a:noFill/>
        </p:spPr>
        <p:txBody>
          <a:bodyPr wrap="square">
            <a:spAutoFit/>
          </a:bodyPr>
          <a:lstStyle/>
          <a:p>
            <a:pPr algn="l"/>
            <a:r>
              <a:rPr sz="900" b="0" i="0">
                <a:solidFill>
                  <a:srgbClr val="FFFFFF"/>
                </a:solidFill>
              </a:rPr>
              <a:t>mytutorialrack.com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What We Cover in This Module</a:t>
            </a:r>
          </a:p>
        </p:txBody>
      </p:sp>
      <p:sp>
        <p:nvSpPr>
          <p:cNvPr id="3" name="Rounded Rectangle 2"/>
          <p:cNvSpPr/>
          <p:nvPr/>
        </p:nvSpPr>
        <p:spPr>
          <a:xfrm>
            <a:off x="365760" y="1463040"/>
            <a:ext cx="5303520" cy="114300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1783080"/>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a:t>
            </a:r>
          </a:p>
        </p:txBody>
      </p:sp>
      <p:sp>
        <p:nvSpPr>
          <p:cNvPr id="5" name="TextBox 4"/>
          <p:cNvSpPr txBox="1"/>
          <p:nvPr/>
        </p:nvSpPr>
        <p:spPr>
          <a:xfrm>
            <a:off x="1170432" y="1792224"/>
            <a:ext cx="4297680" cy="502920"/>
          </a:xfrm>
          <a:prstGeom prst="rect">
            <a:avLst/>
          </a:prstGeom>
          <a:noFill/>
        </p:spPr>
        <p:txBody>
          <a:bodyPr wrap="square">
            <a:spAutoFit/>
          </a:bodyPr>
          <a:lstStyle/>
          <a:p>
            <a:pPr algn="l"/>
            <a:r>
              <a:rPr sz="1500" b="1" i="0">
                <a:solidFill>
                  <a:srgbClr val="FFFFFF"/>
                </a:solidFill>
              </a:rPr>
              <a:t>What is Headless 360?</a:t>
            </a:r>
          </a:p>
        </p:txBody>
      </p:sp>
      <p:sp>
        <p:nvSpPr>
          <p:cNvPr id="6" name="Rounded Rectangle 5"/>
          <p:cNvSpPr/>
          <p:nvPr/>
        </p:nvSpPr>
        <p:spPr>
          <a:xfrm>
            <a:off x="365760" y="2880360"/>
            <a:ext cx="5303520" cy="114300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3200400"/>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a:t>
            </a:r>
          </a:p>
        </p:txBody>
      </p:sp>
      <p:sp>
        <p:nvSpPr>
          <p:cNvPr id="8" name="TextBox 7"/>
          <p:cNvSpPr txBox="1"/>
          <p:nvPr/>
        </p:nvSpPr>
        <p:spPr>
          <a:xfrm>
            <a:off x="1170432" y="3209544"/>
            <a:ext cx="4297680" cy="502920"/>
          </a:xfrm>
          <a:prstGeom prst="rect">
            <a:avLst/>
          </a:prstGeom>
          <a:noFill/>
        </p:spPr>
        <p:txBody>
          <a:bodyPr wrap="square">
            <a:spAutoFit/>
          </a:bodyPr>
          <a:lstStyle/>
          <a:p>
            <a:pPr algn="l"/>
            <a:r>
              <a:rPr sz="1500" b="1" i="0">
                <a:solidFill>
                  <a:srgbClr val="FFFFFF"/>
                </a:solidFill>
              </a:rPr>
              <a:t>The Old Way vs The New Way</a:t>
            </a:r>
          </a:p>
        </p:txBody>
      </p:sp>
      <p:sp>
        <p:nvSpPr>
          <p:cNvPr id="9" name="Rounded Rectangle 8"/>
          <p:cNvSpPr/>
          <p:nvPr/>
        </p:nvSpPr>
        <p:spPr>
          <a:xfrm>
            <a:off x="365760" y="4297680"/>
            <a:ext cx="5303520" cy="114300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02920" y="4617720"/>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3</a:t>
            </a:r>
          </a:p>
        </p:txBody>
      </p:sp>
      <p:sp>
        <p:nvSpPr>
          <p:cNvPr id="11" name="TextBox 10"/>
          <p:cNvSpPr txBox="1"/>
          <p:nvPr/>
        </p:nvSpPr>
        <p:spPr>
          <a:xfrm>
            <a:off x="1170432" y="4626864"/>
            <a:ext cx="4297680" cy="502920"/>
          </a:xfrm>
          <a:prstGeom prst="rect">
            <a:avLst/>
          </a:prstGeom>
          <a:noFill/>
        </p:spPr>
        <p:txBody>
          <a:bodyPr wrap="square">
            <a:spAutoFit/>
          </a:bodyPr>
          <a:lstStyle/>
          <a:p>
            <a:pPr algn="l"/>
            <a:r>
              <a:rPr sz="1500" b="1" i="0">
                <a:solidFill>
                  <a:srgbClr val="FFFFFF"/>
                </a:solidFill>
              </a:rPr>
              <a:t>How AI Understands You</a:t>
            </a:r>
          </a:p>
        </p:txBody>
      </p:sp>
      <p:sp>
        <p:nvSpPr>
          <p:cNvPr id="12" name="Rounded Rectangle 11"/>
          <p:cNvSpPr/>
          <p:nvPr/>
        </p:nvSpPr>
        <p:spPr>
          <a:xfrm>
            <a:off x="6519672" y="1463040"/>
            <a:ext cx="5303520" cy="1143000"/>
          </a:xfrm>
          <a:prstGeom prst="round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56832" y="1783080"/>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4</a:t>
            </a:r>
          </a:p>
        </p:txBody>
      </p:sp>
      <p:sp>
        <p:nvSpPr>
          <p:cNvPr id="14" name="TextBox 13"/>
          <p:cNvSpPr txBox="1"/>
          <p:nvPr/>
        </p:nvSpPr>
        <p:spPr>
          <a:xfrm>
            <a:off x="7315200" y="1792224"/>
            <a:ext cx="4297680" cy="502920"/>
          </a:xfrm>
          <a:prstGeom prst="rect">
            <a:avLst/>
          </a:prstGeom>
          <a:noFill/>
        </p:spPr>
        <p:txBody>
          <a:bodyPr wrap="square">
            <a:spAutoFit/>
          </a:bodyPr>
          <a:lstStyle/>
          <a:p>
            <a:pPr algn="l"/>
            <a:r>
              <a:rPr sz="1500" b="1" i="0">
                <a:solidFill>
                  <a:srgbClr val="FFFFFF"/>
                </a:solidFill>
              </a:rPr>
              <a:t>What is MCP?</a:t>
            </a:r>
          </a:p>
        </p:txBody>
      </p:sp>
      <p:sp>
        <p:nvSpPr>
          <p:cNvPr id="15" name="Rounded Rectangle 14"/>
          <p:cNvSpPr/>
          <p:nvPr/>
        </p:nvSpPr>
        <p:spPr>
          <a:xfrm>
            <a:off x="6519672" y="2880360"/>
            <a:ext cx="5303520" cy="1143000"/>
          </a:xfrm>
          <a:prstGeom prst="roundRect">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56832" y="3200400"/>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5</a:t>
            </a:r>
          </a:p>
        </p:txBody>
      </p:sp>
      <p:sp>
        <p:nvSpPr>
          <p:cNvPr id="17" name="TextBox 16"/>
          <p:cNvSpPr txBox="1"/>
          <p:nvPr/>
        </p:nvSpPr>
        <p:spPr>
          <a:xfrm>
            <a:off x="7315200" y="3209544"/>
            <a:ext cx="4297680" cy="502920"/>
          </a:xfrm>
          <a:prstGeom prst="rect">
            <a:avLst/>
          </a:prstGeom>
          <a:noFill/>
        </p:spPr>
        <p:txBody>
          <a:bodyPr wrap="square">
            <a:spAutoFit/>
          </a:bodyPr>
          <a:lstStyle/>
          <a:p>
            <a:pPr algn="l"/>
            <a:r>
              <a:rPr sz="1500" b="1" i="0">
                <a:solidFill>
                  <a:srgbClr val="FFFFFF"/>
                </a:solidFill>
              </a:rPr>
              <a:t>MCP Architecture &amp; Tools</a:t>
            </a:r>
          </a:p>
        </p:txBody>
      </p:sp>
      <p:sp>
        <p:nvSpPr>
          <p:cNvPr id="18" name="Rounded Rectangle 17"/>
          <p:cNvSpPr/>
          <p:nvPr/>
        </p:nvSpPr>
        <p:spPr>
          <a:xfrm>
            <a:off x="6519672" y="4297680"/>
            <a:ext cx="5303520" cy="1143000"/>
          </a:xfrm>
          <a:prstGeom prst="roundRect">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56832" y="4617720"/>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6</a:t>
            </a:r>
          </a:p>
        </p:txBody>
      </p:sp>
      <p:sp>
        <p:nvSpPr>
          <p:cNvPr id="20" name="TextBox 19"/>
          <p:cNvSpPr txBox="1"/>
          <p:nvPr/>
        </p:nvSpPr>
        <p:spPr>
          <a:xfrm>
            <a:off x="7315200" y="4626864"/>
            <a:ext cx="4297680" cy="502920"/>
          </a:xfrm>
          <a:prstGeom prst="rect">
            <a:avLst/>
          </a:prstGeom>
          <a:noFill/>
        </p:spPr>
        <p:txBody>
          <a:bodyPr wrap="square">
            <a:spAutoFit/>
          </a:bodyPr>
          <a:lstStyle/>
          <a:p>
            <a:pPr algn="l"/>
            <a:r>
              <a:rPr sz="1500" b="1" i="0">
                <a:solidFill>
                  <a:srgbClr val="FFFFFF"/>
                </a:solidFill>
              </a:rPr>
              <a:t>Salesforce MCP + Custom Server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What is Headless 360?</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Salesforce is moving from browser-based interactions to AI-powered conversations</a:t>
            </a:r>
          </a:p>
        </p:txBody>
      </p:sp>
      <p:sp>
        <p:nvSpPr>
          <p:cNvPr id="4" name="Rounded Rectangle 3"/>
          <p:cNvSpPr/>
          <p:nvPr/>
        </p:nvSpPr>
        <p:spPr>
          <a:xfrm>
            <a:off x="457200" y="1508760"/>
            <a:ext cx="11274552" cy="91440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Headless 360 = Replacing the browser with an AI agent as your Salesforce interface</a:t>
            </a:r>
          </a:p>
        </p:txBody>
      </p:sp>
      <p:sp>
        <p:nvSpPr>
          <p:cNvPr id="5" name="Rectangle 4"/>
          <p:cNvSpPr/>
          <p:nvPr/>
        </p:nvSpPr>
        <p:spPr>
          <a:xfrm>
            <a:off x="457200" y="2651760"/>
            <a:ext cx="5394960" cy="457200"/>
          </a:xfrm>
          <a:prstGeom prst="rect">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OLD WAY  —  Browser</a:t>
            </a:r>
          </a:p>
        </p:txBody>
      </p:sp>
      <p:sp>
        <p:nvSpPr>
          <p:cNvPr id="6" name="Rectangle 5"/>
          <p:cNvSpPr/>
          <p:nvPr/>
        </p:nvSpPr>
        <p:spPr>
          <a:xfrm>
            <a:off x="457200" y="3200400"/>
            <a:ext cx="5394960" cy="420624"/>
          </a:xfrm>
          <a:prstGeom prst="rect">
            <a:avLst/>
          </a:prstGeom>
          <a:solidFill>
            <a:srgbClr val="F3F3F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273552"/>
            <a:ext cx="5212080" cy="347472"/>
          </a:xfrm>
          <a:prstGeom prst="rect">
            <a:avLst/>
          </a:prstGeom>
          <a:noFill/>
        </p:spPr>
        <p:txBody>
          <a:bodyPr wrap="square">
            <a:spAutoFit/>
          </a:bodyPr>
          <a:lstStyle/>
          <a:p>
            <a:pPr algn="l"/>
            <a:r>
              <a:rPr sz="1050" b="0" i="0">
                <a:solidFill>
                  <a:srgbClr val="800000"/>
                </a:solidFill>
              </a:rPr>
              <a:t>  x   Open browser, navigate to the right page</a:t>
            </a:r>
          </a:p>
        </p:txBody>
      </p:sp>
      <p:sp>
        <p:nvSpPr>
          <p:cNvPr id="8" name="Rectangle 7"/>
          <p:cNvSpPr/>
          <p:nvPr/>
        </p:nvSpPr>
        <p:spPr>
          <a:xfrm>
            <a:off x="457200" y="3694176"/>
            <a:ext cx="5394960" cy="420624"/>
          </a:xfrm>
          <a:prstGeom prst="rect">
            <a:avLst/>
          </a:prstGeom>
          <a:solidFill>
            <a:srgbClr val="F3F3F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767328"/>
            <a:ext cx="5212080" cy="347472"/>
          </a:xfrm>
          <a:prstGeom prst="rect">
            <a:avLst/>
          </a:prstGeom>
          <a:noFill/>
        </p:spPr>
        <p:txBody>
          <a:bodyPr wrap="square">
            <a:spAutoFit/>
          </a:bodyPr>
          <a:lstStyle/>
          <a:p>
            <a:pPr algn="l"/>
            <a:r>
              <a:rPr sz="1050" b="0" i="0">
                <a:solidFill>
                  <a:srgbClr val="800000"/>
                </a:solidFill>
              </a:rPr>
              <a:t>  x   Fill in forms field by field</a:t>
            </a:r>
          </a:p>
        </p:txBody>
      </p:sp>
      <p:sp>
        <p:nvSpPr>
          <p:cNvPr id="10" name="Rectangle 9"/>
          <p:cNvSpPr/>
          <p:nvPr/>
        </p:nvSpPr>
        <p:spPr>
          <a:xfrm>
            <a:off x="457200" y="4187952"/>
            <a:ext cx="5394960" cy="420624"/>
          </a:xfrm>
          <a:prstGeom prst="rect">
            <a:avLst/>
          </a:prstGeom>
          <a:solidFill>
            <a:srgbClr val="F3F3F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61104"/>
            <a:ext cx="5212080" cy="347472"/>
          </a:xfrm>
          <a:prstGeom prst="rect">
            <a:avLst/>
          </a:prstGeom>
          <a:noFill/>
        </p:spPr>
        <p:txBody>
          <a:bodyPr wrap="square">
            <a:spAutoFit/>
          </a:bodyPr>
          <a:lstStyle/>
          <a:p>
            <a:pPr algn="l"/>
            <a:r>
              <a:rPr sz="1050" b="0" i="0">
                <a:solidFill>
                  <a:srgbClr val="800000"/>
                </a:solidFill>
              </a:rPr>
              <a:t>  x   Remember different portal URLs</a:t>
            </a:r>
          </a:p>
        </p:txBody>
      </p:sp>
      <p:sp>
        <p:nvSpPr>
          <p:cNvPr id="12" name="Rectangle 11"/>
          <p:cNvSpPr/>
          <p:nvPr/>
        </p:nvSpPr>
        <p:spPr>
          <a:xfrm>
            <a:off x="457200" y="4681728"/>
            <a:ext cx="5394960" cy="420624"/>
          </a:xfrm>
          <a:prstGeom prst="rect">
            <a:avLst/>
          </a:prstGeom>
          <a:solidFill>
            <a:srgbClr val="F3F3F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754880"/>
            <a:ext cx="5212080" cy="347472"/>
          </a:xfrm>
          <a:prstGeom prst="rect">
            <a:avLst/>
          </a:prstGeom>
          <a:noFill/>
        </p:spPr>
        <p:txBody>
          <a:bodyPr wrap="square">
            <a:spAutoFit/>
          </a:bodyPr>
          <a:lstStyle/>
          <a:p>
            <a:pPr algn="l"/>
            <a:r>
              <a:rPr sz="1050" b="0" i="0">
                <a:solidFill>
                  <a:srgbClr val="800000"/>
                </a:solidFill>
              </a:rPr>
              <a:t>  x   Click through multiple screens</a:t>
            </a:r>
          </a:p>
        </p:txBody>
      </p:sp>
      <p:sp>
        <p:nvSpPr>
          <p:cNvPr id="14" name="Rectangle 13"/>
          <p:cNvSpPr/>
          <p:nvPr/>
        </p:nvSpPr>
        <p:spPr>
          <a:xfrm>
            <a:off x="457200" y="5175504"/>
            <a:ext cx="5394960" cy="420624"/>
          </a:xfrm>
          <a:prstGeom prst="rect">
            <a:avLst/>
          </a:prstGeom>
          <a:solidFill>
            <a:srgbClr val="F3F3F3"/>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248656"/>
            <a:ext cx="5212080" cy="347472"/>
          </a:xfrm>
          <a:prstGeom prst="rect">
            <a:avLst/>
          </a:prstGeom>
          <a:noFill/>
        </p:spPr>
        <p:txBody>
          <a:bodyPr wrap="square">
            <a:spAutoFit/>
          </a:bodyPr>
          <a:lstStyle/>
          <a:p>
            <a:pPr algn="l"/>
            <a:r>
              <a:rPr sz="1050" b="0" i="0">
                <a:solidFill>
                  <a:srgbClr val="800000"/>
                </a:solidFill>
              </a:rPr>
              <a:t>  x   Manually check record status</a:t>
            </a:r>
          </a:p>
        </p:txBody>
      </p:sp>
      <p:sp>
        <p:nvSpPr>
          <p:cNvPr id="16" name="Rectangle 15"/>
          <p:cNvSpPr/>
          <p:nvPr/>
        </p:nvSpPr>
        <p:spPr>
          <a:xfrm>
            <a:off x="6400800" y="2651760"/>
            <a:ext cx="5394960" cy="457200"/>
          </a:xfrm>
          <a:prstGeom prst="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NEW WAY  —  AI Agent</a:t>
            </a:r>
          </a:p>
        </p:txBody>
      </p:sp>
      <p:sp>
        <p:nvSpPr>
          <p:cNvPr id="17" name="Rectangle 16"/>
          <p:cNvSpPr/>
          <p:nvPr/>
        </p:nvSpPr>
        <p:spPr>
          <a:xfrm>
            <a:off x="6400800" y="3200400"/>
            <a:ext cx="5394960" cy="420624"/>
          </a:xfrm>
          <a:prstGeom prst="rect">
            <a:avLst/>
          </a:prstGeom>
          <a:solidFill>
            <a:srgbClr val="D4EDDA"/>
          </a:solidFill>
          <a:ln w="6350">
            <a:solidFill>
              <a:srgbClr val="2E84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273552"/>
            <a:ext cx="5212080" cy="347472"/>
          </a:xfrm>
          <a:prstGeom prst="rect">
            <a:avLst/>
          </a:prstGeom>
          <a:noFill/>
        </p:spPr>
        <p:txBody>
          <a:bodyPr wrap="square">
            <a:spAutoFit/>
          </a:bodyPr>
          <a:lstStyle/>
          <a:p>
            <a:pPr algn="l"/>
            <a:r>
              <a:rPr sz="1050" b="0" i="0">
                <a:solidFill>
                  <a:srgbClr val="1A5C2E"/>
                </a:solidFill>
              </a:rPr>
              <a:t>  v   Just type or speak what you need</a:t>
            </a:r>
          </a:p>
        </p:txBody>
      </p:sp>
      <p:sp>
        <p:nvSpPr>
          <p:cNvPr id="19" name="Rectangle 18"/>
          <p:cNvSpPr/>
          <p:nvPr/>
        </p:nvSpPr>
        <p:spPr>
          <a:xfrm>
            <a:off x="6400800" y="3694176"/>
            <a:ext cx="5394960" cy="420624"/>
          </a:xfrm>
          <a:prstGeom prst="rect">
            <a:avLst/>
          </a:prstGeom>
          <a:solidFill>
            <a:srgbClr val="D4EDDA"/>
          </a:solidFill>
          <a:ln w="6350">
            <a:solidFill>
              <a:srgbClr val="2E84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767328"/>
            <a:ext cx="5212080" cy="347472"/>
          </a:xfrm>
          <a:prstGeom prst="rect">
            <a:avLst/>
          </a:prstGeom>
          <a:noFill/>
        </p:spPr>
        <p:txBody>
          <a:bodyPr wrap="square">
            <a:spAutoFit/>
          </a:bodyPr>
          <a:lstStyle/>
          <a:p>
            <a:pPr algn="l"/>
            <a:r>
              <a:rPr sz="1050" b="0" i="0">
                <a:solidFill>
                  <a:srgbClr val="1A5C2E"/>
                </a:solidFill>
              </a:rPr>
              <a:t>  v   AI asks follow-up questions for you</a:t>
            </a:r>
          </a:p>
        </p:txBody>
      </p:sp>
      <p:sp>
        <p:nvSpPr>
          <p:cNvPr id="21" name="Rectangle 20"/>
          <p:cNvSpPr/>
          <p:nvPr/>
        </p:nvSpPr>
        <p:spPr>
          <a:xfrm>
            <a:off x="6400800" y="4187952"/>
            <a:ext cx="5394960" cy="420624"/>
          </a:xfrm>
          <a:prstGeom prst="rect">
            <a:avLst/>
          </a:prstGeom>
          <a:solidFill>
            <a:srgbClr val="D4EDDA"/>
          </a:solidFill>
          <a:ln w="6350">
            <a:solidFill>
              <a:srgbClr val="2E84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261104"/>
            <a:ext cx="5212080" cy="347472"/>
          </a:xfrm>
          <a:prstGeom prst="rect">
            <a:avLst/>
          </a:prstGeom>
          <a:noFill/>
        </p:spPr>
        <p:txBody>
          <a:bodyPr wrap="square">
            <a:spAutoFit/>
          </a:bodyPr>
          <a:lstStyle/>
          <a:p>
            <a:pPr algn="l"/>
            <a:r>
              <a:rPr sz="1050" b="0" i="0">
                <a:solidFill>
                  <a:srgbClr val="1A5C2E"/>
                </a:solidFill>
              </a:rPr>
              <a:t>  v   One conversation covers everything</a:t>
            </a:r>
          </a:p>
        </p:txBody>
      </p:sp>
      <p:sp>
        <p:nvSpPr>
          <p:cNvPr id="23" name="Rectangle 22"/>
          <p:cNvSpPr/>
          <p:nvPr/>
        </p:nvSpPr>
        <p:spPr>
          <a:xfrm>
            <a:off x="6400800" y="4681728"/>
            <a:ext cx="5394960" cy="420624"/>
          </a:xfrm>
          <a:prstGeom prst="rect">
            <a:avLst/>
          </a:prstGeom>
          <a:solidFill>
            <a:srgbClr val="D4EDDA"/>
          </a:solidFill>
          <a:ln w="6350">
            <a:solidFill>
              <a:srgbClr val="2E84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4754880"/>
            <a:ext cx="5212080" cy="347472"/>
          </a:xfrm>
          <a:prstGeom prst="rect">
            <a:avLst/>
          </a:prstGeom>
          <a:noFill/>
        </p:spPr>
        <p:txBody>
          <a:bodyPr wrap="square">
            <a:spAutoFit/>
          </a:bodyPr>
          <a:lstStyle/>
          <a:p>
            <a:pPr algn="l"/>
            <a:r>
              <a:rPr sz="1050" b="0" i="0">
                <a:solidFill>
                  <a:srgbClr val="1A5C2E"/>
                </a:solidFill>
              </a:rPr>
              <a:t>  v   No URLs or navigation needed</a:t>
            </a:r>
          </a:p>
        </p:txBody>
      </p:sp>
      <p:sp>
        <p:nvSpPr>
          <p:cNvPr id="25" name="Rectangle 24"/>
          <p:cNvSpPr/>
          <p:nvPr/>
        </p:nvSpPr>
        <p:spPr>
          <a:xfrm>
            <a:off x="6400800" y="5175504"/>
            <a:ext cx="5394960" cy="420624"/>
          </a:xfrm>
          <a:prstGeom prst="rect">
            <a:avLst/>
          </a:prstGeom>
          <a:solidFill>
            <a:srgbClr val="D4EDDA"/>
          </a:solidFill>
          <a:ln w="6350">
            <a:solidFill>
              <a:srgbClr val="2E84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5248656"/>
            <a:ext cx="5212080" cy="347472"/>
          </a:xfrm>
          <a:prstGeom prst="rect">
            <a:avLst/>
          </a:prstGeom>
          <a:noFill/>
        </p:spPr>
        <p:txBody>
          <a:bodyPr wrap="square">
            <a:spAutoFit/>
          </a:bodyPr>
          <a:lstStyle/>
          <a:p>
            <a:pPr algn="l"/>
            <a:r>
              <a:rPr sz="1050" b="0" i="0">
                <a:solidFill>
                  <a:srgbClr val="1A5C2E"/>
                </a:solidFill>
              </a:rPr>
              <a:t>  v   Ask AI for any record status instantly</a:t>
            </a:r>
          </a:p>
        </p:txBody>
      </p:sp>
      <p:sp>
        <p:nvSpPr>
          <p:cNvPr id="27" name="Oval 26"/>
          <p:cNvSpPr/>
          <p:nvPr/>
        </p:nvSpPr>
        <p:spPr>
          <a:xfrm>
            <a:off x="5733288" y="3337560"/>
            <a:ext cx="713232" cy="713232"/>
          </a:xfrm>
          <a:prstGeom prst="ellipse">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VS</a:t>
            </a:r>
          </a:p>
        </p:txBody>
      </p:sp>
      <p:sp>
        <p:nvSpPr>
          <p:cNvPr id="28" name="TextBox 27"/>
          <p:cNvSpPr txBox="1"/>
          <p:nvPr/>
        </p:nvSpPr>
        <p:spPr>
          <a:xfrm>
            <a:off x="457200" y="6080760"/>
            <a:ext cx="11430000" cy="411480"/>
          </a:xfrm>
          <a:prstGeom prst="rect">
            <a:avLst/>
          </a:prstGeom>
          <a:noFill/>
        </p:spPr>
        <p:txBody>
          <a:bodyPr wrap="square">
            <a:spAutoFit/>
          </a:bodyPr>
          <a:lstStyle/>
          <a:p>
            <a:pPr algn="l"/>
            <a:r>
              <a:rPr sz="1100" b="0" i="1">
                <a:solidFill>
                  <a:srgbClr val="555555"/>
                </a:solidFill>
              </a:rPr>
              <a:t>"Headless" = No browser UI.  "360" = Complete control — create, read, update,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The Old Way — Browser-Based Salesforce</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Every task requires navigating a browser</a:t>
            </a:r>
          </a:p>
        </p:txBody>
      </p:sp>
      <p:sp>
        <p:nvSpPr>
          <p:cNvPr id="4" name="Rounded Rectangle 3"/>
          <p:cNvSpPr/>
          <p:nvPr/>
        </p:nvSpPr>
        <p:spPr>
          <a:xfrm>
            <a:off x="320040" y="1691640"/>
            <a:ext cx="2468880" cy="137160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YOU
(User)</a:t>
            </a:r>
          </a:p>
        </p:txBody>
      </p:sp>
      <p:sp>
        <p:nvSpPr>
          <p:cNvPr id="5" name="Rounded Rectangle 4"/>
          <p:cNvSpPr/>
          <p:nvPr/>
        </p:nvSpPr>
        <p:spPr>
          <a:xfrm>
            <a:off x="3063240" y="1691640"/>
            <a:ext cx="2468880" cy="1371600"/>
          </a:xfrm>
          <a:prstGeom prst="roundRect">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BROWSER</a:t>
            </a:r>
          </a:p>
        </p:txBody>
      </p:sp>
      <p:sp>
        <p:nvSpPr>
          <p:cNvPr id="6" name="Rounded Rectangle 5"/>
          <p:cNvSpPr/>
          <p:nvPr/>
        </p:nvSpPr>
        <p:spPr>
          <a:xfrm>
            <a:off x="5806440" y="1691640"/>
            <a:ext cx="2468880" cy="1371600"/>
          </a:xfrm>
          <a:prstGeom prst="roundRect">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FILL FORM
(Manual)</a:t>
            </a:r>
          </a:p>
        </p:txBody>
      </p:sp>
      <p:sp>
        <p:nvSpPr>
          <p:cNvPr id="7" name="Rounded Rectangle 6"/>
          <p:cNvSpPr/>
          <p:nvPr/>
        </p:nvSpPr>
        <p:spPr>
          <a:xfrm>
            <a:off x="8549640" y="1691640"/>
            <a:ext cx="2468880" cy="137160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SALESFORCE</a:t>
            </a:r>
          </a:p>
        </p:txBody>
      </p:sp>
      <p:sp>
        <p:nvSpPr>
          <p:cNvPr id="8" name="Can 7"/>
          <p:cNvSpPr/>
          <p:nvPr/>
        </p:nvSpPr>
        <p:spPr>
          <a:xfrm>
            <a:off x="2834640" y="2194560"/>
            <a:ext cx="201168" cy="384048"/>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n 8"/>
          <p:cNvSpPr/>
          <p:nvPr/>
        </p:nvSpPr>
        <p:spPr>
          <a:xfrm>
            <a:off x="5577840" y="2194560"/>
            <a:ext cx="201168" cy="384048"/>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n 9"/>
          <p:cNvSpPr/>
          <p:nvPr/>
        </p:nvSpPr>
        <p:spPr>
          <a:xfrm>
            <a:off x="8321040" y="2194560"/>
            <a:ext cx="201168" cy="384048"/>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79" y="3264408"/>
            <a:ext cx="2286000" cy="822960"/>
          </a:xfrm>
          <a:prstGeom prst="rect">
            <a:avLst/>
          </a:prstGeom>
          <a:noFill/>
        </p:spPr>
        <p:txBody>
          <a:bodyPr wrap="square">
            <a:spAutoFit/>
          </a:bodyPr>
          <a:lstStyle/>
          <a:p>
            <a:pPr algn="ctr"/>
            <a:r>
              <a:rPr sz="1050" b="0" i="1">
                <a:solidFill>
                  <a:srgbClr val="555555"/>
                </a:solidFill>
              </a:rPr>
              <a:t>Needs to know
where to go</a:t>
            </a:r>
          </a:p>
        </p:txBody>
      </p:sp>
      <p:sp>
        <p:nvSpPr>
          <p:cNvPr id="12" name="TextBox 11"/>
          <p:cNvSpPr txBox="1"/>
          <p:nvPr/>
        </p:nvSpPr>
        <p:spPr>
          <a:xfrm>
            <a:off x="3154680" y="3264408"/>
            <a:ext cx="2286000" cy="822960"/>
          </a:xfrm>
          <a:prstGeom prst="rect">
            <a:avLst/>
          </a:prstGeom>
          <a:noFill/>
        </p:spPr>
        <p:txBody>
          <a:bodyPr wrap="square">
            <a:spAutoFit/>
          </a:bodyPr>
          <a:lstStyle/>
          <a:p>
            <a:pPr algn="ctr"/>
            <a:r>
              <a:rPr sz="1050" b="0" i="1">
                <a:solidFill>
                  <a:srgbClr val="555555"/>
                </a:solidFill>
              </a:rPr>
              <a:t>Slow page loads,
multiple tabs</a:t>
            </a:r>
          </a:p>
        </p:txBody>
      </p:sp>
      <p:sp>
        <p:nvSpPr>
          <p:cNvPr id="13" name="TextBox 12"/>
          <p:cNvSpPr txBox="1"/>
          <p:nvPr/>
        </p:nvSpPr>
        <p:spPr>
          <a:xfrm>
            <a:off x="5897879" y="3264408"/>
            <a:ext cx="2286000" cy="822960"/>
          </a:xfrm>
          <a:prstGeom prst="rect">
            <a:avLst/>
          </a:prstGeom>
          <a:noFill/>
        </p:spPr>
        <p:txBody>
          <a:bodyPr wrap="square">
            <a:spAutoFit/>
          </a:bodyPr>
          <a:lstStyle/>
          <a:p>
            <a:pPr algn="ctr"/>
            <a:r>
              <a:rPr sz="1050" b="0" i="1">
                <a:solidFill>
                  <a:srgbClr val="555555"/>
                </a:solidFill>
              </a:rPr>
              <a:t>Static fields,
hard to elaborate</a:t>
            </a:r>
          </a:p>
        </p:txBody>
      </p:sp>
      <p:sp>
        <p:nvSpPr>
          <p:cNvPr id="14" name="TextBox 13"/>
          <p:cNvSpPr txBox="1"/>
          <p:nvPr/>
        </p:nvSpPr>
        <p:spPr>
          <a:xfrm>
            <a:off x="8641080" y="3264408"/>
            <a:ext cx="2286000" cy="822960"/>
          </a:xfrm>
          <a:prstGeom prst="rect">
            <a:avLst/>
          </a:prstGeom>
          <a:noFill/>
        </p:spPr>
        <p:txBody>
          <a:bodyPr wrap="square">
            <a:spAutoFit/>
          </a:bodyPr>
          <a:lstStyle/>
          <a:p>
            <a:pPr algn="ctr"/>
            <a:r>
              <a:rPr sz="1050" b="0" i="1">
                <a:solidFill>
                  <a:srgbClr val="555555"/>
                </a:solidFill>
              </a:rPr>
              <a:t>Record created
(finally!)</a:t>
            </a:r>
          </a:p>
        </p:txBody>
      </p:sp>
      <p:sp>
        <p:nvSpPr>
          <p:cNvPr id="15" name="Rounded Rectangle 14"/>
          <p:cNvSpPr/>
          <p:nvPr/>
        </p:nvSpPr>
        <p:spPr>
          <a:xfrm>
            <a:off x="457200" y="4754880"/>
            <a:ext cx="11274552" cy="1371600"/>
          </a:xfrm>
          <a:prstGeom prst="roundRect">
            <a:avLst/>
          </a:prstGeom>
          <a:solidFill>
            <a:srgbClr val="FFF3CD"/>
          </a:solidFill>
          <a:ln w="12700">
            <a:solidFill>
              <a:srgbClr val="FE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846320"/>
            <a:ext cx="10972800" cy="1234440"/>
          </a:xfrm>
          <a:prstGeom prst="rect">
            <a:avLst/>
          </a:prstGeom>
          <a:noFill/>
        </p:spPr>
        <p:txBody>
          <a:bodyPr wrap="square">
            <a:spAutoFit/>
          </a:bodyPr>
          <a:lstStyle/>
          <a:p>
            <a:pPr>
              <a:spcBef>
                <a:spcPts val="400"/>
              </a:spcBef>
            </a:pPr>
            <a:r>
              <a:rPr sz="1300" b="1">
                <a:solidFill>
                  <a:srgbClr val="032D60"/>
                </a:solidFill>
              </a:rPr>
              <a:t>Example: Creating a Support Case</a:t>
            </a:r>
          </a:p>
          <a:p>
            <a:pPr>
              <a:spcBef>
                <a:spcPts val="400"/>
              </a:spcBef>
            </a:pPr>
            <a:r>
              <a:rPr sz="1100" b="0">
                <a:solidFill>
                  <a:srgbClr val="555555"/>
                </a:solidFill>
              </a:rPr>
              <a:t>1.  Open browser  →  2.  Go to Cases tab  →  3.  Click 'New'  →  4.  Fill in Subject, Description, Priority  →  5.  Click Save</a:t>
            </a:r>
          </a:p>
          <a:p>
            <a:pPr>
              <a:spcBef>
                <a:spcPts val="400"/>
              </a:spcBef>
            </a:pPr>
            <a:r>
              <a:rPr sz="1050" b="0">
                <a:solidFill>
                  <a:srgbClr val="7B4F00"/>
                </a:solidFill>
              </a:rPr>
              <a:t>Every step requires YOU to be at a browser, know where to click, and type everything manually.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The New Way — Talk to an AI Agent</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One conversation replaces browser navigation, form filling, and record lookup</a:t>
            </a:r>
          </a:p>
        </p:txBody>
      </p:sp>
      <p:sp>
        <p:nvSpPr>
          <p:cNvPr id="4" name="Rounded Rectangle 3"/>
          <p:cNvSpPr/>
          <p:nvPr/>
        </p:nvSpPr>
        <p:spPr>
          <a:xfrm>
            <a:off x="274320" y="1691640"/>
            <a:ext cx="2514600" cy="132588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YOU
(User)</a:t>
            </a:r>
          </a:p>
        </p:txBody>
      </p:sp>
      <p:sp>
        <p:nvSpPr>
          <p:cNvPr id="5" name="Rounded Rectangle 4"/>
          <p:cNvSpPr/>
          <p:nvPr/>
        </p:nvSpPr>
        <p:spPr>
          <a:xfrm>
            <a:off x="3017520" y="1691640"/>
            <a:ext cx="2514600" cy="132588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AI AGENT
(Claude)</a:t>
            </a:r>
          </a:p>
        </p:txBody>
      </p:sp>
      <p:sp>
        <p:nvSpPr>
          <p:cNvPr id="6" name="Rounded Rectangle 5"/>
          <p:cNvSpPr/>
          <p:nvPr/>
        </p:nvSpPr>
        <p:spPr>
          <a:xfrm>
            <a:off x="5760720" y="1691640"/>
            <a:ext cx="2514600" cy="132588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MCP
Protocol</a:t>
            </a:r>
          </a:p>
        </p:txBody>
      </p:sp>
      <p:sp>
        <p:nvSpPr>
          <p:cNvPr id="7" name="Rounded Rectangle 6"/>
          <p:cNvSpPr/>
          <p:nvPr/>
        </p:nvSpPr>
        <p:spPr>
          <a:xfrm>
            <a:off x="8503920" y="1691640"/>
            <a:ext cx="2514600" cy="132588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SALESFORCE</a:t>
            </a:r>
          </a:p>
        </p:txBody>
      </p:sp>
      <p:sp>
        <p:nvSpPr>
          <p:cNvPr id="8" name="Can 7"/>
          <p:cNvSpPr/>
          <p:nvPr/>
        </p:nvSpPr>
        <p:spPr>
          <a:xfrm>
            <a:off x="2807208" y="2167128"/>
            <a:ext cx="201168" cy="384048"/>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n 8"/>
          <p:cNvSpPr/>
          <p:nvPr/>
        </p:nvSpPr>
        <p:spPr>
          <a:xfrm>
            <a:off x="5550408" y="2167128"/>
            <a:ext cx="201168" cy="384048"/>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n 9"/>
          <p:cNvSpPr/>
          <p:nvPr/>
        </p:nvSpPr>
        <p:spPr>
          <a:xfrm>
            <a:off x="8293608" y="2167128"/>
            <a:ext cx="201168" cy="384048"/>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 y="3200400"/>
            <a:ext cx="2514600" cy="868680"/>
          </a:xfrm>
          <a:prstGeom prst="roundRect">
            <a:avLst/>
          </a:prstGeom>
          <a:solidFill>
            <a:srgbClr val="F0F4FF"/>
          </a:solidFill>
          <a:ln w="15240">
            <a:solidFill>
              <a:srgbClr val="032D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032D60"/>
                </a:solidFill>
              </a:rPr>
              <a:t>"Create a case about
billing issue"</a:t>
            </a:r>
          </a:p>
        </p:txBody>
      </p:sp>
      <p:sp>
        <p:nvSpPr>
          <p:cNvPr id="12" name="Rounded Rectangle 11"/>
          <p:cNvSpPr/>
          <p:nvPr/>
        </p:nvSpPr>
        <p:spPr>
          <a:xfrm>
            <a:off x="3017520" y="3200400"/>
            <a:ext cx="2514600" cy="868680"/>
          </a:xfrm>
          <a:prstGeom prst="roundRect">
            <a:avLst/>
          </a:prstGeom>
          <a:solidFill>
            <a:srgbClr val="F0F4FF"/>
          </a:solidFill>
          <a:ln w="15240">
            <a:solidFill>
              <a:srgbClr val="06A59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06A59A"/>
                </a:solidFill>
              </a:rPr>
              <a:t>Understands intent,
asks follow-ups</a:t>
            </a:r>
          </a:p>
        </p:txBody>
      </p:sp>
      <p:sp>
        <p:nvSpPr>
          <p:cNvPr id="13" name="Rounded Rectangle 12"/>
          <p:cNvSpPr/>
          <p:nvPr/>
        </p:nvSpPr>
        <p:spPr>
          <a:xfrm>
            <a:off x="5760720" y="3200400"/>
            <a:ext cx="2514600" cy="868680"/>
          </a:xfrm>
          <a:prstGeom prst="roundRect">
            <a:avLst/>
          </a:prstGeom>
          <a:solidFill>
            <a:srgbClr val="F0F4FF"/>
          </a:solidFill>
          <a:ln w="15240">
            <a:solidFill>
              <a:srgbClr val="9050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9050E9"/>
                </a:solidFill>
              </a:rPr>
              <a:t>Routes the request
to Salesforce</a:t>
            </a:r>
          </a:p>
        </p:txBody>
      </p:sp>
      <p:sp>
        <p:nvSpPr>
          <p:cNvPr id="14" name="Rounded Rectangle 13"/>
          <p:cNvSpPr/>
          <p:nvPr/>
        </p:nvSpPr>
        <p:spPr>
          <a:xfrm>
            <a:off x="8503920" y="3200400"/>
            <a:ext cx="2514600" cy="868680"/>
          </a:xfrm>
          <a:prstGeom prst="roundRect">
            <a:avLst/>
          </a:prstGeom>
          <a:solidFill>
            <a:srgbClr val="F0F4FF"/>
          </a:solidFill>
          <a:ln w="15240">
            <a:solidFill>
              <a:srgbClr val="2E84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2E844A"/>
                </a:solidFill>
              </a:rPr>
              <a:t>Case created!
No browser needed</a:t>
            </a:r>
          </a:p>
        </p:txBody>
      </p:sp>
      <p:sp>
        <p:nvSpPr>
          <p:cNvPr id="15" name="Rounded Rectangle 14"/>
          <p:cNvSpPr/>
          <p:nvPr/>
        </p:nvSpPr>
        <p:spPr>
          <a:xfrm>
            <a:off x="320040" y="4617720"/>
            <a:ext cx="2743200" cy="150876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681728"/>
            <a:ext cx="2468880" cy="411480"/>
          </a:xfrm>
          <a:prstGeom prst="rect">
            <a:avLst/>
          </a:prstGeom>
          <a:noFill/>
        </p:spPr>
        <p:txBody>
          <a:bodyPr wrap="square">
            <a:spAutoFit/>
          </a:bodyPr>
          <a:lstStyle/>
          <a:p>
            <a:pPr algn="ctr"/>
            <a:r>
              <a:rPr sz="1400" b="1" i="0">
                <a:solidFill>
                  <a:srgbClr val="FFFFFF"/>
                </a:solidFill>
              </a:rPr>
              <a:t>CREATE</a:t>
            </a:r>
          </a:p>
        </p:txBody>
      </p:sp>
      <p:sp>
        <p:nvSpPr>
          <p:cNvPr id="17" name="TextBox 16"/>
          <p:cNvSpPr txBox="1"/>
          <p:nvPr/>
        </p:nvSpPr>
        <p:spPr>
          <a:xfrm>
            <a:off x="429768" y="5166360"/>
            <a:ext cx="2514600" cy="868680"/>
          </a:xfrm>
          <a:prstGeom prst="rect">
            <a:avLst/>
          </a:prstGeom>
          <a:noFill/>
        </p:spPr>
        <p:txBody>
          <a:bodyPr wrap="square">
            <a:spAutoFit/>
          </a:bodyPr>
          <a:lstStyle/>
          <a:p>
            <a:pPr algn="ctr"/>
            <a:r>
              <a:rPr sz="1050" b="0" i="0">
                <a:solidFill>
                  <a:srgbClr val="FFFFFF"/>
                </a:solidFill>
              </a:rPr>
              <a:t>New records — Accounts,
Cases, Leads, Contacts</a:t>
            </a:r>
          </a:p>
        </p:txBody>
      </p:sp>
      <p:sp>
        <p:nvSpPr>
          <p:cNvPr id="18" name="Rounded Rectangle 17"/>
          <p:cNvSpPr/>
          <p:nvPr/>
        </p:nvSpPr>
        <p:spPr>
          <a:xfrm>
            <a:off x="3282696" y="4617720"/>
            <a:ext cx="2743200" cy="150876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19856" y="4681728"/>
            <a:ext cx="2468880" cy="411480"/>
          </a:xfrm>
          <a:prstGeom prst="rect">
            <a:avLst/>
          </a:prstGeom>
          <a:noFill/>
        </p:spPr>
        <p:txBody>
          <a:bodyPr wrap="square">
            <a:spAutoFit/>
          </a:bodyPr>
          <a:lstStyle/>
          <a:p>
            <a:pPr algn="ctr"/>
            <a:r>
              <a:rPr sz="1400" b="1" i="0">
                <a:solidFill>
                  <a:srgbClr val="FFFFFF"/>
                </a:solidFill>
              </a:rPr>
              <a:t>READ</a:t>
            </a:r>
          </a:p>
        </p:txBody>
      </p:sp>
      <p:sp>
        <p:nvSpPr>
          <p:cNvPr id="20" name="TextBox 19"/>
          <p:cNvSpPr txBox="1"/>
          <p:nvPr/>
        </p:nvSpPr>
        <p:spPr>
          <a:xfrm>
            <a:off x="3392424" y="5166360"/>
            <a:ext cx="2514600" cy="868680"/>
          </a:xfrm>
          <a:prstGeom prst="rect">
            <a:avLst/>
          </a:prstGeom>
          <a:noFill/>
        </p:spPr>
        <p:txBody>
          <a:bodyPr wrap="square">
            <a:spAutoFit/>
          </a:bodyPr>
          <a:lstStyle/>
          <a:p>
            <a:pPr algn="ctr"/>
            <a:r>
              <a:rPr sz="1050" b="0" i="0">
                <a:solidFill>
                  <a:srgbClr val="FFFFFF"/>
                </a:solidFill>
              </a:rPr>
              <a:t>Check status of any
record instantly</a:t>
            </a:r>
          </a:p>
        </p:txBody>
      </p:sp>
      <p:sp>
        <p:nvSpPr>
          <p:cNvPr id="21" name="Rounded Rectangle 20"/>
          <p:cNvSpPr/>
          <p:nvPr/>
        </p:nvSpPr>
        <p:spPr>
          <a:xfrm>
            <a:off x="6245352" y="4617720"/>
            <a:ext cx="2743200" cy="150876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4681728"/>
            <a:ext cx="2468880" cy="411480"/>
          </a:xfrm>
          <a:prstGeom prst="rect">
            <a:avLst/>
          </a:prstGeom>
          <a:noFill/>
        </p:spPr>
        <p:txBody>
          <a:bodyPr wrap="square">
            <a:spAutoFit/>
          </a:bodyPr>
          <a:lstStyle/>
          <a:p>
            <a:pPr algn="ctr"/>
            <a:r>
              <a:rPr sz="1400" b="1" i="0">
                <a:solidFill>
                  <a:srgbClr val="FFFFFF"/>
                </a:solidFill>
              </a:rPr>
              <a:t>UPDATE</a:t>
            </a:r>
          </a:p>
        </p:txBody>
      </p:sp>
      <p:sp>
        <p:nvSpPr>
          <p:cNvPr id="23" name="TextBox 22"/>
          <p:cNvSpPr txBox="1"/>
          <p:nvPr/>
        </p:nvSpPr>
        <p:spPr>
          <a:xfrm>
            <a:off x="6355080" y="5166360"/>
            <a:ext cx="2514600" cy="868680"/>
          </a:xfrm>
          <a:prstGeom prst="rect">
            <a:avLst/>
          </a:prstGeom>
          <a:noFill/>
        </p:spPr>
        <p:txBody>
          <a:bodyPr wrap="square">
            <a:spAutoFit/>
          </a:bodyPr>
          <a:lstStyle/>
          <a:p>
            <a:pPr algn="ctr"/>
            <a:r>
              <a:rPr sz="1050" b="0" i="0">
                <a:solidFill>
                  <a:srgbClr val="FFFFFF"/>
                </a:solidFill>
              </a:rPr>
              <a:t>Add comments, change
fields, follow up</a:t>
            </a:r>
          </a:p>
        </p:txBody>
      </p:sp>
      <p:sp>
        <p:nvSpPr>
          <p:cNvPr id="24" name="Rounded Rectangle 23"/>
          <p:cNvSpPr/>
          <p:nvPr/>
        </p:nvSpPr>
        <p:spPr>
          <a:xfrm>
            <a:off x="9208008" y="4617720"/>
            <a:ext cx="2743200" cy="1508760"/>
          </a:xfrm>
          <a:prstGeom prst="round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45168" y="4681728"/>
            <a:ext cx="2468880" cy="411480"/>
          </a:xfrm>
          <a:prstGeom prst="rect">
            <a:avLst/>
          </a:prstGeom>
          <a:noFill/>
        </p:spPr>
        <p:txBody>
          <a:bodyPr wrap="square">
            <a:spAutoFit/>
          </a:bodyPr>
          <a:lstStyle/>
          <a:p>
            <a:pPr algn="ctr"/>
            <a:r>
              <a:rPr sz="1400" b="1" i="0">
                <a:solidFill>
                  <a:srgbClr val="FFFFFF"/>
                </a:solidFill>
              </a:rPr>
              <a:t>REPORT</a:t>
            </a:r>
          </a:p>
        </p:txBody>
      </p:sp>
      <p:sp>
        <p:nvSpPr>
          <p:cNvPr id="26" name="TextBox 25"/>
          <p:cNvSpPr txBox="1"/>
          <p:nvPr/>
        </p:nvSpPr>
        <p:spPr>
          <a:xfrm>
            <a:off x="9317736" y="5166360"/>
            <a:ext cx="2514600" cy="868680"/>
          </a:xfrm>
          <a:prstGeom prst="rect">
            <a:avLst/>
          </a:prstGeom>
          <a:noFill/>
        </p:spPr>
        <p:txBody>
          <a:bodyPr wrap="square">
            <a:spAutoFit/>
          </a:bodyPr>
          <a:lstStyle/>
          <a:p>
            <a:pPr algn="ctr"/>
            <a:r>
              <a:rPr sz="1050" b="0" i="0">
                <a:solidFill>
                  <a:srgbClr val="FFFFFF"/>
                </a:solidFill>
              </a:rPr>
              <a:t>Pull summaries &amp;
reports on demand</a:t>
            </a:r>
          </a:p>
        </p:txBody>
      </p:sp>
      <p:sp>
        <p:nvSpPr>
          <p:cNvPr id="27" name="TextBox 26"/>
          <p:cNvSpPr txBox="1"/>
          <p:nvPr/>
        </p:nvSpPr>
        <p:spPr>
          <a:xfrm>
            <a:off x="457200" y="6217920"/>
            <a:ext cx="11430000" cy="320040"/>
          </a:xfrm>
          <a:prstGeom prst="rect">
            <a:avLst/>
          </a:prstGeom>
          <a:noFill/>
        </p:spPr>
        <p:txBody>
          <a:bodyPr wrap="square">
            <a:spAutoFit/>
          </a:bodyPr>
          <a:lstStyle/>
          <a:p>
            <a:pPr algn="ctr"/>
            <a:r>
              <a:rPr sz="1100" b="1" i="0">
                <a:solidFill>
                  <a:srgbClr val="032D60"/>
                </a:solidFill>
              </a:rPr>
              <a:t>The AI is your ONE STOP SHOP — no more remembering URLs or navigating pages.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How Does the AI Understand You?</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Natural Language Processing + Large Language Models</a:t>
            </a:r>
          </a:p>
        </p:txBody>
      </p:sp>
      <p:sp>
        <p:nvSpPr>
          <p:cNvPr id="4" name="Rounded Rectangle 3"/>
          <p:cNvSpPr/>
          <p:nvPr/>
        </p:nvSpPr>
        <p:spPr>
          <a:xfrm>
            <a:off x="320040" y="1600200"/>
            <a:ext cx="1828800" cy="118872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Your
Words</a:t>
            </a:r>
          </a:p>
        </p:txBody>
      </p:sp>
      <p:sp>
        <p:nvSpPr>
          <p:cNvPr id="5" name="Can 4"/>
          <p:cNvSpPr/>
          <p:nvPr/>
        </p:nvSpPr>
        <p:spPr>
          <a:xfrm>
            <a:off x="2148840" y="1965960"/>
            <a:ext cx="502920" cy="457200"/>
          </a:xfrm>
          <a:prstGeom prst="can">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926080"/>
            <a:ext cx="1828800" cy="731520"/>
          </a:xfrm>
          <a:prstGeom prst="rect">
            <a:avLst/>
          </a:prstGeom>
          <a:noFill/>
        </p:spPr>
        <p:txBody>
          <a:bodyPr wrap="square">
            <a:spAutoFit/>
          </a:bodyPr>
          <a:lstStyle/>
          <a:p>
            <a:pPr algn="ctr"/>
            <a:r>
              <a:rPr sz="1000" b="0" i="1">
                <a:solidFill>
                  <a:srgbClr val="555555"/>
                </a:solidFill>
              </a:rPr>
              <a:t>You type or speak
in plain English</a:t>
            </a:r>
          </a:p>
        </p:txBody>
      </p:sp>
      <p:sp>
        <p:nvSpPr>
          <p:cNvPr id="7" name="Rounded Rectangle 6"/>
          <p:cNvSpPr/>
          <p:nvPr/>
        </p:nvSpPr>
        <p:spPr>
          <a:xfrm>
            <a:off x="2697480" y="1600200"/>
            <a:ext cx="1828800" cy="118872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NLP
Layer</a:t>
            </a:r>
          </a:p>
        </p:txBody>
      </p:sp>
      <p:sp>
        <p:nvSpPr>
          <p:cNvPr id="8" name="Can 7"/>
          <p:cNvSpPr/>
          <p:nvPr/>
        </p:nvSpPr>
        <p:spPr>
          <a:xfrm>
            <a:off x="4526280" y="1965960"/>
            <a:ext cx="502920" cy="457200"/>
          </a:xfrm>
          <a:prstGeom prst="can">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97480" y="2926080"/>
            <a:ext cx="1828800" cy="731520"/>
          </a:xfrm>
          <a:prstGeom prst="rect">
            <a:avLst/>
          </a:prstGeom>
          <a:noFill/>
        </p:spPr>
        <p:txBody>
          <a:bodyPr wrap="square">
            <a:spAutoFit/>
          </a:bodyPr>
          <a:lstStyle/>
          <a:p>
            <a:pPr algn="ctr"/>
            <a:r>
              <a:rPr sz="1000" b="0" i="1">
                <a:solidFill>
                  <a:srgbClr val="555555"/>
                </a:solidFill>
              </a:rPr>
              <a:t>Understands meaning,
not just keywords</a:t>
            </a:r>
          </a:p>
        </p:txBody>
      </p:sp>
      <p:sp>
        <p:nvSpPr>
          <p:cNvPr id="10" name="Rounded Rectangle 9"/>
          <p:cNvSpPr/>
          <p:nvPr/>
        </p:nvSpPr>
        <p:spPr>
          <a:xfrm>
            <a:off x="5074920" y="1600200"/>
            <a:ext cx="1828800" cy="118872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LLM
Reasoning</a:t>
            </a:r>
          </a:p>
        </p:txBody>
      </p:sp>
      <p:sp>
        <p:nvSpPr>
          <p:cNvPr id="11" name="Can 10"/>
          <p:cNvSpPr/>
          <p:nvPr/>
        </p:nvSpPr>
        <p:spPr>
          <a:xfrm>
            <a:off x="6903720" y="1965960"/>
            <a:ext cx="502920" cy="457200"/>
          </a:xfrm>
          <a:prstGeom prst="can">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4920" y="2926080"/>
            <a:ext cx="1828800" cy="731520"/>
          </a:xfrm>
          <a:prstGeom prst="rect">
            <a:avLst/>
          </a:prstGeom>
          <a:noFill/>
        </p:spPr>
        <p:txBody>
          <a:bodyPr wrap="square">
            <a:spAutoFit/>
          </a:bodyPr>
          <a:lstStyle/>
          <a:p>
            <a:pPr algn="ctr"/>
            <a:r>
              <a:rPr sz="1000" b="0" i="1">
                <a:solidFill>
                  <a:srgbClr val="555555"/>
                </a:solidFill>
              </a:rPr>
              <a:t>Figures out WHAT
you want to do</a:t>
            </a:r>
          </a:p>
        </p:txBody>
      </p:sp>
      <p:sp>
        <p:nvSpPr>
          <p:cNvPr id="13" name="Rounded Rectangle 12"/>
          <p:cNvSpPr/>
          <p:nvPr/>
        </p:nvSpPr>
        <p:spPr>
          <a:xfrm>
            <a:off x="7452360" y="1600200"/>
            <a:ext cx="1828800" cy="118872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Intent
Detected</a:t>
            </a:r>
          </a:p>
        </p:txBody>
      </p:sp>
      <p:sp>
        <p:nvSpPr>
          <p:cNvPr id="14" name="Can 13"/>
          <p:cNvSpPr/>
          <p:nvPr/>
        </p:nvSpPr>
        <p:spPr>
          <a:xfrm>
            <a:off x="9281160" y="1965960"/>
            <a:ext cx="502920" cy="457200"/>
          </a:xfrm>
          <a:prstGeom prst="can">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2926080"/>
            <a:ext cx="1828800" cy="731520"/>
          </a:xfrm>
          <a:prstGeom prst="rect">
            <a:avLst/>
          </a:prstGeom>
          <a:noFill/>
        </p:spPr>
        <p:txBody>
          <a:bodyPr wrap="square">
            <a:spAutoFit/>
          </a:bodyPr>
          <a:lstStyle/>
          <a:p>
            <a:pPr algn="ctr"/>
            <a:r>
              <a:rPr sz="1000" b="0" i="1">
                <a:solidFill>
                  <a:srgbClr val="555555"/>
                </a:solidFill>
              </a:rPr>
              <a:t>e.g. 'Create Case'
or 'Get Report'</a:t>
            </a:r>
          </a:p>
        </p:txBody>
      </p:sp>
      <p:sp>
        <p:nvSpPr>
          <p:cNvPr id="16" name="Rounded Rectangle 15"/>
          <p:cNvSpPr/>
          <p:nvPr/>
        </p:nvSpPr>
        <p:spPr>
          <a:xfrm>
            <a:off x="9829800" y="1600200"/>
            <a:ext cx="1828800" cy="1188720"/>
          </a:xfrm>
          <a:prstGeom prst="round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MCP
Action</a:t>
            </a:r>
          </a:p>
        </p:txBody>
      </p:sp>
      <p:sp>
        <p:nvSpPr>
          <p:cNvPr id="17" name="TextBox 16"/>
          <p:cNvSpPr txBox="1"/>
          <p:nvPr/>
        </p:nvSpPr>
        <p:spPr>
          <a:xfrm>
            <a:off x="9829800" y="2926080"/>
            <a:ext cx="1828800" cy="731520"/>
          </a:xfrm>
          <a:prstGeom prst="rect">
            <a:avLst/>
          </a:prstGeom>
          <a:noFill/>
        </p:spPr>
        <p:txBody>
          <a:bodyPr wrap="square">
            <a:spAutoFit/>
          </a:bodyPr>
          <a:lstStyle/>
          <a:p>
            <a:pPr algn="ctr"/>
            <a:r>
              <a:rPr sz="1000" b="0" i="1">
                <a:solidFill>
                  <a:srgbClr val="555555"/>
                </a:solidFill>
              </a:rPr>
              <a:t>Executes in
Salesforce via MCP</a:t>
            </a:r>
          </a:p>
        </p:txBody>
      </p:sp>
      <p:sp>
        <p:nvSpPr>
          <p:cNvPr id="18" name="Rounded Rectangle 17"/>
          <p:cNvSpPr/>
          <p:nvPr/>
        </p:nvSpPr>
        <p:spPr>
          <a:xfrm>
            <a:off x="365760" y="3840480"/>
            <a:ext cx="5394960" cy="2286000"/>
          </a:xfrm>
          <a:prstGeom prst="roundRect">
            <a:avLst/>
          </a:prstGeom>
          <a:solidFill>
            <a:srgbClr val="F0F4FF"/>
          </a:solidFill>
          <a:ln w="15240">
            <a:solidFill>
              <a:srgbClr val="905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3913632"/>
            <a:ext cx="5120640" cy="2103120"/>
          </a:xfrm>
          <a:prstGeom prst="rect">
            <a:avLst/>
          </a:prstGeom>
          <a:noFill/>
        </p:spPr>
        <p:txBody>
          <a:bodyPr wrap="square">
            <a:spAutoFit/>
          </a:bodyPr>
          <a:lstStyle/>
          <a:p>
            <a:pPr>
              <a:spcBef>
                <a:spcPts val="400"/>
              </a:spcBef>
            </a:pPr>
            <a:r>
              <a:rPr sz="1300" b="1">
                <a:solidFill>
                  <a:srgbClr val="9050E9"/>
                </a:solidFill>
              </a:rPr>
              <a:t>What NLP Gives the AI</a:t>
            </a:r>
          </a:p>
          <a:p>
            <a:pPr>
              <a:spcBef>
                <a:spcPts val="400"/>
              </a:spcBef>
            </a:pPr>
            <a:r>
              <a:rPr sz="1100" b="0">
                <a:solidFill>
                  <a:srgbClr val="555555"/>
                </a:solidFill>
              </a:rPr>
              <a:t>  Understand your intent — even with typos or variations</a:t>
            </a:r>
          </a:p>
          <a:p>
            <a:pPr>
              <a:spcBef>
                <a:spcPts val="400"/>
              </a:spcBef>
            </a:pPr>
            <a:r>
              <a:rPr sz="1100" b="0">
                <a:solidFill>
                  <a:srgbClr val="555555"/>
                </a:solidFill>
              </a:rPr>
              <a:t>  Ask clarifying questions if info is missing</a:t>
            </a:r>
          </a:p>
          <a:p>
            <a:pPr>
              <a:spcBef>
                <a:spcPts val="400"/>
              </a:spcBef>
            </a:pPr>
            <a:r>
              <a:rPr sz="1100" b="0">
                <a:solidFill>
                  <a:srgbClr val="555555"/>
                </a:solidFill>
              </a:rPr>
              <a:t>  Help you phrase things better</a:t>
            </a:r>
          </a:p>
          <a:p>
            <a:pPr>
              <a:spcBef>
                <a:spcPts val="400"/>
              </a:spcBef>
            </a:pPr>
            <a:r>
              <a:rPr sz="1100" b="0">
                <a:solidFill>
                  <a:srgbClr val="555555"/>
                </a:solidFill>
              </a:rPr>
              <a:t>  Support multiple languages</a:t>
            </a:r>
          </a:p>
        </p:txBody>
      </p:sp>
      <p:sp>
        <p:nvSpPr>
          <p:cNvPr id="20" name="Rounded Rectangle 19"/>
          <p:cNvSpPr/>
          <p:nvPr/>
        </p:nvSpPr>
        <p:spPr>
          <a:xfrm>
            <a:off x="6400800" y="3840480"/>
            <a:ext cx="5394960" cy="2286000"/>
          </a:xfrm>
          <a:prstGeom prst="roundRect">
            <a:avLst/>
          </a:prstGeom>
          <a:solidFill>
            <a:srgbClr val="FFEDD5"/>
          </a:solidFill>
          <a:ln w="15240">
            <a:solidFill>
              <a:srgbClr val="FE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3913632"/>
            <a:ext cx="5120640" cy="2103120"/>
          </a:xfrm>
          <a:prstGeom prst="rect">
            <a:avLst/>
          </a:prstGeom>
          <a:noFill/>
        </p:spPr>
        <p:txBody>
          <a:bodyPr wrap="square">
            <a:spAutoFit/>
          </a:bodyPr>
          <a:lstStyle/>
          <a:p>
            <a:pPr>
              <a:spcBef>
                <a:spcPts val="400"/>
              </a:spcBef>
            </a:pPr>
            <a:r>
              <a:rPr sz="1300" b="1">
                <a:solidFill>
                  <a:srgbClr val="FE9339"/>
                </a:solidFill>
              </a:rPr>
              <a:t>One Key Limitation</a:t>
            </a:r>
          </a:p>
          <a:p>
            <a:pPr>
              <a:spcBef>
                <a:spcPts val="400"/>
              </a:spcBef>
            </a:pPr>
            <a:r>
              <a:rPr sz="1100" b="0">
                <a:solidFill>
                  <a:srgbClr val="555555"/>
                </a:solidFill>
              </a:rPr>
              <a:t>  AI can search the internet for PUBLIC info.</a:t>
            </a:r>
          </a:p>
          <a:p>
            <a:pPr>
              <a:spcBef>
                <a:spcPts val="400"/>
              </a:spcBef>
            </a:pPr>
            <a:r>
              <a:rPr sz="1100" b="1">
                <a:solidFill>
                  <a:srgbClr val="C01010"/>
                </a:solidFill>
              </a:rPr>
              <a:t>  But YOUR Salesforce data is PRIVATE.</a:t>
            </a:r>
          </a:p>
          <a:p>
            <a:pPr>
              <a:spcBef>
                <a:spcPts val="400"/>
              </a:spcBef>
            </a:pPr>
            <a:r>
              <a:rPr sz="1100" b="0">
                <a:solidFill>
                  <a:srgbClr val="555555"/>
                </a:solidFill>
              </a:rPr>
              <a:t>  The AI cannot access it without permission.</a:t>
            </a:r>
          </a:p>
          <a:p>
            <a:pPr>
              <a:spcBef>
                <a:spcPts val="400"/>
              </a:spcBef>
            </a:pPr>
            <a:r>
              <a:rPr sz="1100" b="1">
                <a:solidFill>
                  <a:srgbClr val="032D60"/>
                </a:solidFill>
              </a:rPr>
              <a:t>  This is exactly why we need MCP.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The Problem Before MCP</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Every AI model had to write its own custom code to connect to each system</a:t>
            </a:r>
          </a:p>
        </p:txBody>
      </p:sp>
      <p:sp>
        <p:nvSpPr>
          <p:cNvPr id="4" name="Rounded Rectangle 3"/>
          <p:cNvSpPr/>
          <p:nvPr/>
        </p:nvSpPr>
        <p:spPr>
          <a:xfrm>
            <a:off x="320040" y="1600200"/>
            <a:ext cx="2286000" cy="118872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AI Model A
(Claude)</a:t>
            </a:r>
          </a:p>
        </p:txBody>
      </p:sp>
      <p:sp>
        <p:nvSpPr>
          <p:cNvPr id="5" name="Rounded Rectangle 4"/>
          <p:cNvSpPr/>
          <p:nvPr/>
        </p:nvSpPr>
        <p:spPr>
          <a:xfrm>
            <a:off x="320040" y="3108960"/>
            <a:ext cx="2286000" cy="118872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AI Model B
(Cursor)</a:t>
            </a:r>
          </a:p>
        </p:txBody>
      </p:sp>
      <p:sp>
        <p:nvSpPr>
          <p:cNvPr id="6" name="Rounded Rectangle 5"/>
          <p:cNvSpPr/>
          <p:nvPr/>
        </p:nvSpPr>
        <p:spPr>
          <a:xfrm>
            <a:off x="320040" y="4617720"/>
            <a:ext cx="2286000" cy="118872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AI Model C
(Codex)</a:t>
            </a:r>
          </a:p>
        </p:txBody>
      </p:sp>
      <p:sp>
        <p:nvSpPr>
          <p:cNvPr id="7" name="Can 6"/>
          <p:cNvSpPr/>
          <p:nvPr/>
        </p:nvSpPr>
        <p:spPr>
          <a:xfrm>
            <a:off x="2624328" y="2011680"/>
            <a:ext cx="731520" cy="365760"/>
          </a:xfrm>
          <a:prstGeom prst="can">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83280" y="1600200"/>
            <a:ext cx="2286000" cy="1188720"/>
          </a:xfrm>
          <a:prstGeom prst="roundRect">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Custom
Code A</a:t>
            </a:r>
          </a:p>
        </p:txBody>
      </p:sp>
      <p:sp>
        <p:nvSpPr>
          <p:cNvPr id="9" name="Can 8"/>
          <p:cNvSpPr/>
          <p:nvPr/>
        </p:nvSpPr>
        <p:spPr>
          <a:xfrm>
            <a:off x="5687568" y="2011680"/>
            <a:ext cx="731520" cy="365760"/>
          </a:xfrm>
          <a:prstGeom prst="can">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n 9"/>
          <p:cNvSpPr/>
          <p:nvPr/>
        </p:nvSpPr>
        <p:spPr>
          <a:xfrm>
            <a:off x="2624328" y="3520440"/>
            <a:ext cx="731520" cy="365760"/>
          </a:xfrm>
          <a:prstGeom prst="can">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83280" y="3108960"/>
            <a:ext cx="2286000" cy="1188720"/>
          </a:xfrm>
          <a:prstGeom prst="roundRect">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Custom
Code B</a:t>
            </a:r>
          </a:p>
        </p:txBody>
      </p:sp>
      <p:sp>
        <p:nvSpPr>
          <p:cNvPr id="12" name="Can 11"/>
          <p:cNvSpPr/>
          <p:nvPr/>
        </p:nvSpPr>
        <p:spPr>
          <a:xfrm>
            <a:off x="5687568" y="3520440"/>
            <a:ext cx="731520" cy="365760"/>
          </a:xfrm>
          <a:prstGeom prst="can">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n 12"/>
          <p:cNvSpPr/>
          <p:nvPr/>
        </p:nvSpPr>
        <p:spPr>
          <a:xfrm>
            <a:off x="2624328" y="5029200"/>
            <a:ext cx="731520" cy="365760"/>
          </a:xfrm>
          <a:prstGeom prst="can">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83280" y="4617720"/>
            <a:ext cx="2286000" cy="1188720"/>
          </a:xfrm>
          <a:prstGeom prst="roundRect">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Custom
Code C</a:t>
            </a:r>
          </a:p>
        </p:txBody>
      </p:sp>
      <p:sp>
        <p:nvSpPr>
          <p:cNvPr id="15" name="Can 14"/>
          <p:cNvSpPr/>
          <p:nvPr/>
        </p:nvSpPr>
        <p:spPr>
          <a:xfrm>
            <a:off x="5687568" y="5029200"/>
            <a:ext cx="731520" cy="365760"/>
          </a:xfrm>
          <a:prstGeom prst="can">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46520" y="2606040"/>
            <a:ext cx="2286000" cy="118872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DATABASE /
SYSTEM</a:t>
            </a:r>
          </a:p>
        </p:txBody>
      </p:sp>
      <p:sp>
        <p:nvSpPr>
          <p:cNvPr id="17" name="TextBox 16"/>
          <p:cNvSpPr txBox="1"/>
          <p:nvPr/>
        </p:nvSpPr>
        <p:spPr>
          <a:xfrm>
            <a:off x="3200400" y="5074920"/>
            <a:ext cx="2743200" cy="731520"/>
          </a:xfrm>
          <a:prstGeom prst="rect">
            <a:avLst/>
          </a:prstGeom>
          <a:noFill/>
        </p:spPr>
        <p:txBody>
          <a:bodyPr wrap="square">
            <a:spAutoFit/>
          </a:bodyPr>
          <a:lstStyle/>
          <a:p>
            <a:pPr algn="ctr"/>
            <a:r>
              <a:rPr sz="1050" b="1" i="0">
                <a:solidFill>
                  <a:srgbClr val="C01010"/>
                </a:solidFill>
              </a:rPr>
              <a:t>Each AI must write its own
connection code</a:t>
            </a:r>
          </a:p>
        </p:txBody>
      </p:sp>
      <p:sp>
        <p:nvSpPr>
          <p:cNvPr id="18" name="Rounded Rectangle 17"/>
          <p:cNvSpPr/>
          <p:nvPr/>
        </p:nvSpPr>
        <p:spPr>
          <a:xfrm>
            <a:off x="8961120" y="1463040"/>
            <a:ext cx="2834640" cy="4663440"/>
          </a:xfrm>
          <a:prstGeom prst="roundRect">
            <a:avLst/>
          </a:prstGeom>
          <a:solidFill>
            <a:srgbClr val="F3F3F3"/>
          </a:solidFill>
          <a:ln w="15240">
            <a:solidFill>
              <a:srgbClr val="C01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1536192"/>
            <a:ext cx="2697480" cy="4526280"/>
          </a:xfrm>
          <a:prstGeom prst="rect">
            <a:avLst/>
          </a:prstGeom>
          <a:noFill/>
        </p:spPr>
        <p:txBody>
          <a:bodyPr wrap="square">
            <a:spAutoFit/>
          </a:bodyPr>
          <a:lstStyle/>
          <a:p>
            <a:pPr>
              <a:spcBef>
                <a:spcPts val="400"/>
              </a:spcBef>
            </a:pPr>
            <a:r>
              <a:rPr sz="1200" b="1">
                <a:solidFill>
                  <a:srgbClr val="C01010"/>
                </a:solidFill>
              </a:rPr>
              <a:t>Problems with This Approach</a:t>
            </a:r>
          </a:p>
          <a:p>
            <a:pPr>
              <a:spcBef>
                <a:spcPts val="400"/>
              </a:spcBef>
            </a:pPr>
            <a:r>
              <a:rPr sz="1100" b="0">
                <a:solidFill>
                  <a:srgbClr val="555555"/>
                </a:solidFill>
              </a:rPr>
              <a:t>  Code duplication</a:t>
            </a:r>
          </a:p>
          <a:p>
            <a:pPr>
              <a:spcBef>
                <a:spcPts val="400"/>
              </a:spcBef>
            </a:pPr>
            <a:r>
              <a:rPr sz="1100" b="0">
                <a:solidFill>
                  <a:srgbClr val="555555"/>
                </a:solidFill>
              </a:rPr>
              <a:t>  Each AI reinvents the wheel</a:t>
            </a:r>
          </a:p>
          <a:p>
            <a:pPr>
              <a:spcBef>
                <a:spcPts val="400"/>
              </a:spcBef>
            </a:pPr>
            <a:r>
              <a:rPr sz="1100" b="0">
                <a:solidFill>
                  <a:srgbClr val="555555"/>
                </a:solidFill>
              </a:rPr>
              <a:t>  Hard to maintain</a:t>
            </a:r>
          </a:p>
          <a:p>
            <a:pPr>
              <a:spcBef>
                <a:spcPts val="400"/>
              </a:spcBef>
            </a:pPr>
            <a:r>
              <a:rPr sz="1100" b="0">
                <a:solidFill>
                  <a:srgbClr val="555555"/>
                </a:solidFill>
              </a:rPr>
              <a:t>  Inconsistent responses</a:t>
            </a:r>
          </a:p>
          <a:p>
            <a:pPr>
              <a:spcBef>
                <a:spcPts val="400"/>
              </a:spcBef>
            </a:pPr>
            <a:r>
              <a:rPr sz="1100" b="0">
                <a:solidFill>
                  <a:srgbClr val="555555"/>
                </a:solidFill>
              </a:rPr>
              <a:t>  Switching AI tools = rewrite everything</a:t>
            </a:r>
          </a:p>
          <a:p>
            <a:pPr>
              <a:spcBef>
                <a:spcPts val="400"/>
              </a:spcBef>
            </a:pPr>
            <a:r>
              <a:rPr sz="1100" b="0">
                <a:solidFill>
                  <a:srgbClr val="555555"/>
                </a:solidFill>
              </a:rPr>
              <a:t>  Security handled differently in each</a:t>
            </a:r>
          </a:p>
        </p:txBody>
      </p:sp>
      <p:sp>
        <p:nvSpPr>
          <p:cNvPr id="20" name="TextBox 19"/>
          <p:cNvSpPr txBox="1"/>
          <p:nvPr/>
        </p:nvSpPr>
        <p:spPr>
          <a:xfrm>
            <a:off x="365760" y="6263640"/>
            <a:ext cx="8686800" cy="320040"/>
          </a:xfrm>
          <a:prstGeom prst="rect">
            <a:avLst/>
          </a:prstGeom>
          <a:noFill/>
        </p:spPr>
        <p:txBody>
          <a:bodyPr wrap="square">
            <a:spAutoFit/>
          </a:bodyPr>
          <a:lstStyle/>
          <a:p>
            <a:pPr algn="l"/>
            <a:r>
              <a:rPr sz="1200" b="1" i="0">
                <a:solidFill>
                  <a:srgbClr val="C01010"/>
                </a:solidFill>
              </a:rPr>
              <a:t>Messy. Inconsistent. Expensive to maintain.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What is MCP?  (Model Context Protocol)</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Created by Anthropic — a universal standard for AI-to-system communication</a:t>
            </a:r>
          </a:p>
        </p:txBody>
      </p:sp>
      <p:sp>
        <p:nvSpPr>
          <p:cNvPr id="4" name="Rounded Rectangle 3"/>
          <p:cNvSpPr/>
          <p:nvPr/>
        </p:nvSpPr>
        <p:spPr>
          <a:xfrm>
            <a:off x="457200" y="1463040"/>
            <a:ext cx="11274552" cy="91440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MCP is a standard protocol that lets ANY AI tool connect to ANY system using the same language</a:t>
            </a:r>
          </a:p>
        </p:txBody>
      </p:sp>
      <p:sp>
        <p:nvSpPr>
          <p:cNvPr id="5" name="TextBox 4"/>
          <p:cNvSpPr txBox="1"/>
          <p:nvPr/>
        </p:nvSpPr>
        <p:spPr>
          <a:xfrm>
            <a:off x="457200" y="2578608"/>
            <a:ext cx="4572000" cy="320040"/>
          </a:xfrm>
          <a:prstGeom prst="rect">
            <a:avLst/>
          </a:prstGeom>
          <a:noFill/>
        </p:spPr>
        <p:txBody>
          <a:bodyPr wrap="square">
            <a:spAutoFit/>
          </a:bodyPr>
          <a:lstStyle/>
          <a:p>
            <a:pPr algn="l"/>
            <a:r>
              <a:rPr sz="1200" b="1" i="0">
                <a:solidFill>
                  <a:srgbClr val="032D60"/>
                </a:solidFill>
              </a:rPr>
              <a:t>Think of it like this:</a:t>
            </a:r>
          </a:p>
        </p:txBody>
      </p:sp>
      <p:sp>
        <p:nvSpPr>
          <p:cNvPr id="6" name="Rounded Rectangle 5"/>
          <p:cNvSpPr/>
          <p:nvPr/>
        </p:nvSpPr>
        <p:spPr>
          <a:xfrm>
            <a:off x="457200" y="2944368"/>
            <a:ext cx="5394960" cy="2468880"/>
          </a:xfrm>
          <a:prstGeom prst="roundRect">
            <a:avLst/>
          </a:prstGeom>
          <a:solidFill>
            <a:srgbClr val="F0F4FF"/>
          </a:solidFill>
          <a:ln w="15240">
            <a:solidFill>
              <a:srgbClr val="06A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3017520"/>
            <a:ext cx="5120640" cy="2331720"/>
          </a:xfrm>
          <a:prstGeom prst="rect">
            <a:avLst/>
          </a:prstGeom>
          <a:noFill/>
        </p:spPr>
        <p:txBody>
          <a:bodyPr wrap="square">
            <a:spAutoFit/>
          </a:bodyPr>
          <a:lstStyle/>
          <a:p>
            <a:pPr>
              <a:spcBef>
                <a:spcPts val="400"/>
              </a:spcBef>
            </a:pPr>
            <a:r>
              <a:rPr sz="1200" b="1">
                <a:solidFill>
                  <a:srgbClr val="06A59A"/>
                </a:solidFill>
              </a:rPr>
              <a:t>REST API  (you already know this)</a:t>
            </a:r>
          </a:p>
          <a:p>
            <a:pPr>
              <a:spcBef>
                <a:spcPts val="400"/>
              </a:spcBef>
            </a:pPr>
            <a:r>
              <a:rPr sz="1100" b="0">
                <a:solidFill>
                  <a:srgbClr val="555555"/>
                </a:solidFill>
              </a:rPr>
              <a:t>  Two systems agree on a format</a:t>
            </a:r>
          </a:p>
          <a:p>
            <a:pPr>
              <a:spcBef>
                <a:spcPts val="400"/>
              </a:spcBef>
            </a:pPr>
            <a:r>
              <a:rPr sz="1100" b="0">
                <a:solidFill>
                  <a:srgbClr val="555555"/>
                </a:solidFill>
              </a:rPr>
              <a:t>  Request comes in as JSON</a:t>
            </a:r>
          </a:p>
          <a:p>
            <a:pPr>
              <a:spcBef>
                <a:spcPts val="400"/>
              </a:spcBef>
            </a:pPr>
            <a:r>
              <a:rPr sz="1100" b="0">
                <a:solidFill>
                  <a:srgbClr val="555555"/>
                </a:solidFill>
              </a:rPr>
              <a:t>  Response goes back as JSON</a:t>
            </a:r>
          </a:p>
          <a:p>
            <a:pPr>
              <a:spcBef>
                <a:spcPts val="400"/>
              </a:spcBef>
            </a:pPr>
            <a:r>
              <a:rPr sz="1100" b="0">
                <a:solidFill>
                  <a:srgbClr val="555555"/>
                </a:solidFill>
              </a:rPr>
              <a:t>  Any system that speaks REST can connect</a:t>
            </a:r>
          </a:p>
          <a:p>
            <a:pPr>
              <a:spcBef>
                <a:spcPts val="400"/>
              </a:spcBef>
            </a:pPr>
            <a:r>
              <a:rPr sz="1100" b="0">
                <a:solidFill>
                  <a:srgbClr val="555555"/>
                </a:solidFill>
              </a:rPr>
              <a:t>  Reusable — build once, use everywhere</a:t>
            </a:r>
          </a:p>
        </p:txBody>
      </p:sp>
      <p:sp>
        <p:nvSpPr>
          <p:cNvPr id="8" name="Oval 7"/>
          <p:cNvSpPr/>
          <p:nvPr/>
        </p:nvSpPr>
        <p:spPr>
          <a:xfrm>
            <a:off x="5943600" y="3840480"/>
            <a:ext cx="457200" cy="502920"/>
          </a:xfrm>
          <a:prstGeom prst="ellipse">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a:t>
            </a:r>
          </a:p>
        </p:txBody>
      </p:sp>
      <p:sp>
        <p:nvSpPr>
          <p:cNvPr id="9" name="Rounded Rectangle 8"/>
          <p:cNvSpPr/>
          <p:nvPr/>
        </p:nvSpPr>
        <p:spPr>
          <a:xfrm>
            <a:off x="6519672" y="2944368"/>
            <a:ext cx="5394960" cy="2468880"/>
          </a:xfrm>
          <a:prstGeom prst="roundRect">
            <a:avLst/>
          </a:prstGeom>
          <a:solidFill>
            <a:srgbClr val="F0F4FF"/>
          </a:solidFill>
          <a:ln w="15240">
            <a:solidFill>
              <a:srgbClr val="017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3017520"/>
            <a:ext cx="5120640" cy="2331720"/>
          </a:xfrm>
          <a:prstGeom prst="rect">
            <a:avLst/>
          </a:prstGeom>
          <a:noFill/>
        </p:spPr>
        <p:txBody>
          <a:bodyPr wrap="square">
            <a:spAutoFit/>
          </a:bodyPr>
          <a:lstStyle/>
          <a:p>
            <a:pPr>
              <a:spcBef>
                <a:spcPts val="400"/>
              </a:spcBef>
            </a:pPr>
            <a:r>
              <a:rPr sz="1200" b="1">
                <a:solidFill>
                  <a:srgbClr val="0176D3"/>
                </a:solidFill>
              </a:rPr>
              <a:t>MCP  (same idea, built for AI)</a:t>
            </a:r>
          </a:p>
          <a:p>
            <a:pPr>
              <a:spcBef>
                <a:spcPts val="400"/>
              </a:spcBef>
            </a:pPr>
            <a:r>
              <a:rPr sz="1100" b="0">
                <a:solidFill>
                  <a:srgbClr val="555555"/>
                </a:solidFill>
              </a:rPr>
              <a:t>  AI and systems agree on a format</a:t>
            </a:r>
          </a:p>
          <a:p>
            <a:pPr>
              <a:spcBef>
                <a:spcPts val="400"/>
              </a:spcBef>
            </a:pPr>
            <a:r>
              <a:rPr sz="1100" b="0">
                <a:solidFill>
                  <a:srgbClr val="555555"/>
                </a:solidFill>
              </a:rPr>
              <a:t>  Requests come in as MCP messages</a:t>
            </a:r>
          </a:p>
          <a:p>
            <a:pPr>
              <a:spcBef>
                <a:spcPts val="400"/>
              </a:spcBef>
            </a:pPr>
            <a:r>
              <a:rPr sz="1100" b="0">
                <a:solidFill>
                  <a:srgbClr val="555555"/>
                </a:solidFill>
              </a:rPr>
              <a:t>  Responses go back in MCP format</a:t>
            </a:r>
          </a:p>
          <a:p>
            <a:pPr>
              <a:spcBef>
                <a:spcPts val="400"/>
              </a:spcBef>
            </a:pPr>
            <a:r>
              <a:rPr sz="1100" b="0">
                <a:solidFill>
                  <a:srgbClr val="555555"/>
                </a:solidFill>
              </a:rPr>
              <a:t>  Any AI that speaks MCP can connect</a:t>
            </a:r>
          </a:p>
          <a:p>
            <a:pPr>
              <a:spcBef>
                <a:spcPts val="400"/>
              </a:spcBef>
            </a:pPr>
            <a:r>
              <a:rPr sz="1100" b="0">
                <a:solidFill>
                  <a:srgbClr val="555555"/>
                </a:solidFill>
              </a:rPr>
              <a:t>  Reusable — build once, use with any AI</a:t>
            </a:r>
          </a:p>
        </p:txBody>
      </p:sp>
      <p:sp>
        <p:nvSpPr>
          <p:cNvPr id="11" name="Rounded Rectangle 10"/>
          <p:cNvSpPr/>
          <p:nvPr/>
        </p:nvSpPr>
        <p:spPr>
          <a:xfrm>
            <a:off x="457200" y="5577840"/>
            <a:ext cx="11274552" cy="566928"/>
          </a:xfrm>
          <a:prstGeom prst="roundRect">
            <a:avLst/>
          </a:prstGeom>
          <a:solidFill>
            <a:srgbClr val="FFF3CD"/>
          </a:solidFill>
          <a:ln w="12700">
            <a:solidFill>
              <a:srgbClr val="FE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5632704"/>
            <a:ext cx="11064240" cy="457200"/>
          </a:xfrm>
          <a:prstGeom prst="rect">
            <a:avLst/>
          </a:prstGeom>
          <a:noFill/>
        </p:spPr>
        <p:txBody>
          <a:bodyPr wrap="square">
            <a:spAutoFit/>
          </a:bodyPr>
          <a:lstStyle/>
          <a:p>
            <a:pPr algn="l"/>
            <a:r>
              <a:rPr sz="1100" b="0" i="0">
                <a:solidFill>
                  <a:srgbClr val="7B4F00"/>
                </a:solidFill>
              </a:rPr>
              <a:t>  Mulesoft analogy:  Just like a reusable Mulesoft API can be called by any flow, an MCP Server can be called by any AI tool — without rewriting the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MCP Architecture — How It All Connects</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Client sends a request  •  Server runs the tool  •  Response comes back</a:t>
            </a:r>
          </a:p>
        </p:txBody>
      </p:sp>
      <p:sp>
        <p:nvSpPr>
          <p:cNvPr id="4" name="Rectangle 3"/>
          <p:cNvSpPr/>
          <p:nvPr/>
        </p:nvSpPr>
        <p:spPr>
          <a:xfrm>
            <a:off x="320040" y="1371600"/>
            <a:ext cx="2926080" cy="384048"/>
          </a:xfrm>
          <a:prstGeom prst="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MCP CLIENT</a:t>
            </a:r>
          </a:p>
        </p:txBody>
      </p:sp>
      <p:sp>
        <p:nvSpPr>
          <p:cNvPr id="5" name="Rectangle 4"/>
          <p:cNvSpPr/>
          <p:nvPr/>
        </p:nvSpPr>
        <p:spPr>
          <a:xfrm>
            <a:off x="4480560" y="1371600"/>
            <a:ext cx="4114800" cy="384048"/>
          </a:xfrm>
          <a:prstGeom prst="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MCP SERVER</a:t>
            </a:r>
          </a:p>
        </p:txBody>
      </p:sp>
      <p:sp>
        <p:nvSpPr>
          <p:cNvPr id="6" name="Rectangle 5"/>
          <p:cNvSpPr/>
          <p:nvPr/>
        </p:nvSpPr>
        <p:spPr>
          <a:xfrm>
            <a:off x="9144000" y="1371600"/>
            <a:ext cx="2743200" cy="384048"/>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DATA SOURCES</a:t>
            </a:r>
          </a:p>
        </p:txBody>
      </p:sp>
      <p:sp>
        <p:nvSpPr>
          <p:cNvPr id="7" name="Rounded Rectangle 6"/>
          <p:cNvSpPr/>
          <p:nvPr/>
        </p:nvSpPr>
        <p:spPr>
          <a:xfrm>
            <a:off x="457200" y="1920240"/>
            <a:ext cx="2651760" cy="256032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93392"/>
            <a:ext cx="2377440" cy="2423160"/>
          </a:xfrm>
          <a:prstGeom prst="rect">
            <a:avLst/>
          </a:prstGeom>
          <a:noFill/>
        </p:spPr>
        <p:txBody>
          <a:bodyPr wrap="square">
            <a:spAutoFit/>
          </a:bodyPr>
          <a:lstStyle/>
          <a:p>
            <a:pPr>
              <a:spcBef>
                <a:spcPts val="400"/>
              </a:spcBef>
            </a:pPr>
            <a:r>
              <a:rPr sz="1300" b="1">
                <a:solidFill>
                  <a:srgbClr val="FFFFFF"/>
                </a:solidFill>
              </a:rPr>
              <a:t>AI TOOLS</a:t>
            </a:r>
          </a:p>
          <a:p>
            <a:pPr>
              <a:spcBef>
                <a:spcPts val="400"/>
              </a:spcBef>
            </a:pPr>
            <a:r>
              <a:rPr sz="500" b="0">
                <a:solidFill>
                  <a:srgbClr val="FFFFFF"/>
                </a:solidFill>
              </a:rPr>
              <a:t> </a:t>
            </a:r>
          </a:p>
          <a:p>
            <a:pPr>
              <a:spcBef>
                <a:spcPts val="400"/>
              </a:spcBef>
            </a:pPr>
            <a:r>
              <a:rPr sz="1100" b="0">
                <a:solidFill>
                  <a:srgbClr val="FFFFFF"/>
                </a:solidFill>
              </a:rPr>
              <a:t>Claude</a:t>
            </a:r>
          </a:p>
          <a:p>
            <a:pPr>
              <a:spcBef>
                <a:spcPts val="400"/>
              </a:spcBef>
            </a:pPr>
            <a:r>
              <a:rPr sz="1100" b="0">
                <a:solidFill>
                  <a:srgbClr val="FFFFFF"/>
                </a:solidFill>
              </a:rPr>
              <a:t>Cursor</a:t>
            </a:r>
          </a:p>
          <a:p>
            <a:pPr>
              <a:spcBef>
                <a:spcPts val="400"/>
              </a:spcBef>
            </a:pPr>
            <a:r>
              <a:rPr sz="1100" b="0">
                <a:solidFill>
                  <a:srgbClr val="FFFFFF"/>
                </a:solidFill>
              </a:rPr>
              <a:t>Codex</a:t>
            </a:r>
          </a:p>
          <a:p>
            <a:pPr>
              <a:spcBef>
                <a:spcPts val="400"/>
              </a:spcBef>
            </a:pPr>
            <a:r>
              <a:rPr sz="1100" b="0">
                <a:solidFill>
                  <a:srgbClr val="FFFFFF"/>
                </a:solidFill>
              </a:rPr>
              <a:t>Any AI Agent</a:t>
            </a:r>
          </a:p>
        </p:txBody>
      </p:sp>
      <p:sp>
        <p:nvSpPr>
          <p:cNvPr id="9" name="TextBox 8"/>
          <p:cNvSpPr txBox="1"/>
          <p:nvPr/>
        </p:nvSpPr>
        <p:spPr>
          <a:xfrm>
            <a:off x="3255264" y="2395728"/>
            <a:ext cx="1097280" cy="274320"/>
          </a:xfrm>
          <a:prstGeom prst="rect">
            <a:avLst/>
          </a:prstGeom>
          <a:noFill/>
        </p:spPr>
        <p:txBody>
          <a:bodyPr wrap="square">
            <a:spAutoFit/>
          </a:bodyPr>
          <a:lstStyle/>
          <a:p>
            <a:pPr algn="ctr"/>
            <a:r>
              <a:rPr sz="900" b="1" i="0">
                <a:solidFill>
                  <a:srgbClr val="032D60"/>
                </a:solidFill>
              </a:rPr>
              <a:t>Request</a:t>
            </a:r>
          </a:p>
        </p:txBody>
      </p:sp>
      <p:sp>
        <p:nvSpPr>
          <p:cNvPr id="10" name="Can 9"/>
          <p:cNvSpPr/>
          <p:nvPr/>
        </p:nvSpPr>
        <p:spPr>
          <a:xfrm>
            <a:off x="3218688" y="2697480"/>
            <a:ext cx="1170432" cy="347472"/>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n 10"/>
          <p:cNvSpPr/>
          <p:nvPr/>
        </p:nvSpPr>
        <p:spPr>
          <a:xfrm>
            <a:off x="3218688" y="3154680"/>
            <a:ext cx="1170432" cy="347472"/>
          </a:xfrm>
          <a:prstGeom prst="can">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55264" y="3520440"/>
            <a:ext cx="1097280" cy="274320"/>
          </a:xfrm>
          <a:prstGeom prst="rect">
            <a:avLst/>
          </a:prstGeom>
          <a:noFill/>
        </p:spPr>
        <p:txBody>
          <a:bodyPr wrap="square">
            <a:spAutoFit/>
          </a:bodyPr>
          <a:lstStyle/>
          <a:p>
            <a:pPr algn="ctr"/>
            <a:r>
              <a:rPr sz="900" b="1" i="0">
                <a:solidFill>
                  <a:srgbClr val="06A59A"/>
                </a:solidFill>
              </a:rPr>
              <a:t>Response</a:t>
            </a:r>
          </a:p>
        </p:txBody>
      </p:sp>
      <p:sp>
        <p:nvSpPr>
          <p:cNvPr id="13" name="Rounded Rectangle 12"/>
          <p:cNvSpPr/>
          <p:nvPr/>
        </p:nvSpPr>
        <p:spPr>
          <a:xfrm>
            <a:off x="4480560" y="1920240"/>
            <a:ext cx="4114800" cy="256032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1984248"/>
            <a:ext cx="3794760" cy="2450592"/>
          </a:xfrm>
          <a:prstGeom prst="rect">
            <a:avLst/>
          </a:prstGeom>
          <a:noFill/>
        </p:spPr>
        <p:txBody>
          <a:bodyPr wrap="square">
            <a:spAutoFit/>
          </a:bodyPr>
          <a:lstStyle/>
          <a:p>
            <a:pPr>
              <a:spcBef>
                <a:spcPts val="400"/>
              </a:spcBef>
            </a:pPr>
            <a:r>
              <a:rPr sz="1300" b="1">
                <a:solidFill>
                  <a:srgbClr val="FFFFFF"/>
                </a:solidFill>
              </a:rPr>
              <a:t>MCP SERVER</a:t>
            </a:r>
          </a:p>
          <a:p>
            <a:pPr>
              <a:spcBef>
                <a:spcPts val="400"/>
              </a:spcBef>
            </a:pPr>
            <a:r>
              <a:rPr sz="1000" b="0">
                <a:solidFill>
                  <a:srgbClr val="CCFFF8"/>
                </a:solidFill>
              </a:rPr>
              <a:t>Contains all TOOLS:</a:t>
            </a:r>
          </a:p>
          <a:p>
            <a:pPr>
              <a:spcBef>
                <a:spcPts val="400"/>
              </a:spcBef>
            </a:pPr>
            <a:r>
              <a:rPr sz="1000" b="0">
                <a:solidFill>
                  <a:srgbClr val="FFFFFF"/>
                </a:solidFill>
              </a:rPr>
              <a:t> Query Records</a:t>
            </a:r>
          </a:p>
          <a:p>
            <a:pPr>
              <a:spcBef>
                <a:spcPts val="400"/>
              </a:spcBef>
            </a:pPr>
            <a:r>
              <a:rPr sz="1000" b="0">
                <a:solidFill>
                  <a:srgbClr val="FFFFFF"/>
                </a:solidFill>
              </a:rPr>
              <a:t> Create Record</a:t>
            </a:r>
          </a:p>
          <a:p>
            <a:pPr>
              <a:spcBef>
                <a:spcPts val="400"/>
              </a:spcBef>
            </a:pPr>
            <a:r>
              <a:rPr sz="1000" b="0">
                <a:solidFill>
                  <a:srgbClr val="FFFFFF"/>
                </a:solidFill>
              </a:rPr>
              <a:t> Update Record</a:t>
            </a:r>
          </a:p>
          <a:p>
            <a:pPr>
              <a:spcBef>
                <a:spcPts val="400"/>
              </a:spcBef>
            </a:pPr>
            <a:r>
              <a:rPr sz="1000" b="0">
                <a:solidFill>
                  <a:srgbClr val="FFFFFF"/>
                </a:solidFill>
              </a:rPr>
              <a:t> Delete Record</a:t>
            </a:r>
          </a:p>
          <a:p>
            <a:pPr>
              <a:spcBef>
                <a:spcPts val="400"/>
              </a:spcBef>
            </a:pPr>
            <a:r>
              <a:rPr sz="1000" b="0">
                <a:solidFill>
                  <a:srgbClr val="FFFFFF"/>
                </a:solidFill>
              </a:rPr>
              <a:t> Run Report</a:t>
            </a:r>
          </a:p>
        </p:txBody>
      </p:sp>
      <p:sp>
        <p:nvSpPr>
          <p:cNvPr id="15" name="TextBox 14"/>
          <p:cNvSpPr txBox="1"/>
          <p:nvPr/>
        </p:nvSpPr>
        <p:spPr>
          <a:xfrm>
            <a:off x="8686800" y="2788920"/>
            <a:ext cx="1005840" cy="274320"/>
          </a:xfrm>
          <a:prstGeom prst="rect">
            <a:avLst/>
          </a:prstGeom>
          <a:noFill/>
        </p:spPr>
        <p:txBody>
          <a:bodyPr wrap="square">
            <a:spAutoFit/>
          </a:bodyPr>
          <a:lstStyle/>
          <a:p>
            <a:pPr algn="ctr"/>
            <a:r>
              <a:rPr sz="900" b="1" i="0">
                <a:solidFill>
                  <a:srgbClr val="032D60"/>
                </a:solidFill>
              </a:rPr>
              <a:t>Connects to</a:t>
            </a:r>
          </a:p>
        </p:txBody>
      </p:sp>
      <p:sp>
        <p:nvSpPr>
          <p:cNvPr id="16" name="Can 15"/>
          <p:cNvSpPr/>
          <p:nvPr/>
        </p:nvSpPr>
        <p:spPr>
          <a:xfrm>
            <a:off x="8668512" y="3090672"/>
            <a:ext cx="411480" cy="347472"/>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0" y="1920240"/>
            <a:ext cx="2651760" cy="54864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Salesforce</a:t>
            </a:r>
          </a:p>
        </p:txBody>
      </p:sp>
      <p:sp>
        <p:nvSpPr>
          <p:cNvPr id="18" name="Rounded Rectangle 17"/>
          <p:cNvSpPr/>
          <p:nvPr/>
        </p:nvSpPr>
        <p:spPr>
          <a:xfrm>
            <a:off x="9144000" y="2587752"/>
            <a:ext cx="2651760" cy="54864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GitHub</a:t>
            </a:r>
          </a:p>
        </p:txBody>
      </p:sp>
      <p:sp>
        <p:nvSpPr>
          <p:cNvPr id="19" name="Rounded Rectangle 18"/>
          <p:cNvSpPr/>
          <p:nvPr/>
        </p:nvSpPr>
        <p:spPr>
          <a:xfrm>
            <a:off x="9144000" y="3255264"/>
            <a:ext cx="2651760" cy="54864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Slack</a:t>
            </a:r>
          </a:p>
        </p:txBody>
      </p:sp>
      <p:sp>
        <p:nvSpPr>
          <p:cNvPr id="20" name="Rounded Rectangle 19"/>
          <p:cNvSpPr/>
          <p:nvPr/>
        </p:nvSpPr>
        <p:spPr>
          <a:xfrm>
            <a:off x="9144000" y="3922776"/>
            <a:ext cx="2651760" cy="548640"/>
          </a:xfrm>
          <a:prstGeom prst="round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rPr>
              <a:t>PostgreSQL</a:t>
            </a:r>
          </a:p>
        </p:txBody>
      </p:sp>
      <p:sp>
        <p:nvSpPr>
          <p:cNvPr id="21" name="Rounded Rectangle 20"/>
          <p:cNvSpPr/>
          <p:nvPr/>
        </p:nvSpPr>
        <p:spPr>
          <a:xfrm>
            <a:off x="457200" y="4663440"/>
            <a:ext cx="11274552" cy="1508760"/>
          </a:xfrm>
          <a:prstGeom prst="roundRect">
            <a:avLst/>
          </a:prstGeom>
          <a:solidFill>
            <a:srgbClr val="F0F4FF"/>
          </a:solidFill>
          <a:ln w="12700">
            <a:solidFill>
              <a:srgbClr val="06A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736592"/>
            <a:ext cx="10972800" cy="1417320"/>
          </a:xfrm>
          <a:prstGeom prst="rect">
            <a:avLst/>
          </a:prstGeom>
          <a:noFill/>
        </p:spPr>
        <p:txBody>
          <a:bodyPr wrap="square">
            <a:spAutoFit/>
          </a:bodyPr>
          <a:lstStyle/>
          <a:p>
            <a:pPr>
              <a:spcBef>
                <a:spcPts val="400"/>
              </a:spcBef>
            </a:pPr>
            <a:r>
              <a:rPr sz="1300" b="1">
                <a:solidFill>
                  <a:srgbClr val="06A59A"/>
                </a:solidFill>
              </a:rPr>
              <a:t>Key Insight: The code lives on the MCP SERVER — not on the AI Client</a:t>
            </a:r>
          </a:p>
          <a:p>
            <a:pPr>
              <a:spcBef>
                <a:spcPts val="400"/>
              </a:spcBef>
            </a:pPr>
            <a:r>
              <a:rPr sz="1100" b="0">
                <a:solidFill>
                  <a:srgbClr val="555555"/>
                </a:solidFill>
              </a:rPr>
              <a:t>  The AI client does NOT need to know how to query a database or interact with Salesforce.</a:t>
            </a:r>
          </a:p>
          <a:p>
            <a:pPr>
              <a:spcBef>
                <a:spcPts val="400"/>
              </a:spcBef>
            </a:pPr>
            <a:r>
              <a:rPr sz="1100" b="0">
                <a:solidFill>
                  <a:srgbClr val="555555"/>
                </a:solidFill>
              </a:rPr>
              <a:t>  It just sends a standard MCP request. The server handles everything else.</a:t>
            </a:r>
          </a:p>
          <a:p>
            <a:pPr>
              <a:spcBef>
                <a:spcPts val="400"/>
              </a:spcBef>
            </a:pPr>
            <a:r>
              <a:rPr sz="1100" b="1">
                <a:solidFill>
                  <a:srgbClr val="032D60"/>
                </a:solidFill>
              </a:rPr>
              <a:t>  Switch from Claude to Cursor? Just re-connect to the same MCP Server. No code rewrite.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Before MCP vs After MCP</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From messy silos to a clean, reusable connection layer</a:t>
            </a:r>
          </a:p>
        </p:txBody>
      </p:sp>
      <p:sp>
        <p:nvSpPr>
          <p:cNvPr id="4" name="Rectangle 3"/>
          <p:cNvSpPr/>
          <p:nvPr/>
        </p:nvSpPr>
        <p:spPr>
          <a:xfrm>
            <a:off x="5998464" y="1097280"/>
            <a:ext cx="73152" cy="55321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143000"/>
            <a:ext cx="5577840" cy="411480"/>
          </a:xfrm>
          <a:prstGeom prst="rect">
            <a:avLst/>
          </a:prstGeom>
          <a:solidFill>
            <a:srgbClr val="C010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BEFORE MCP</a:t>
            </a:r>
          </a:p>
        </p:txBody>
      </p:sp>
      <p:sp>
        <p:nvSpPr>
          <p:cNvPr id="6" name="Rounded Rectangle 5"/>
          <p:cNvSpPr/>
          <p:nvPr/>
        </p:nvSpPr>
        <p:spPr>
          <a:xfrm>
            <a:off x="274320" y="1783080"/>
            <a:ext cx="1371600" cy="59436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Claude</a:t>
            </a:r>
          </a:p>
        </p:txBody>
      </p:sp>
      <p:sp>
        <p:nvSpPr>
          <p:cNvPr id="7" name="Rounded Rectangle 6"/>
          <p:cNvSpPr/>
          <p:nvPr/>
        </p:nvSpPr>
        <p:spPr>
          <a:xfrm>
            <a:off x="274320" y="2587752"/>
            <a:ext cx="1371600" cy="59436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Cursor</a:t>
            </a:r>
          </a:p>
        </p:txBody>
      </p:sp>
      <p:sp>
        <p:nvSpPr>
          <p:cNvPr id="8" name="Rounded Rectangle 7"/>
          <p:cNvSpPr/>
          <p:nvPr/>
        </p:nvSpPr>
        <p:spPr>
          <a:xfrm>
            <a:off x="274320" y="3392424"/>
            <a:ext cx="1371600" cy="59436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Codex</a:t>
            </a:r>
          </a:p>
        </p:txBody>
      </p:sp>
      <p:sp>
        <p:nvSpPr>
          <p:cNvPr id="9" name="Rounded Rectangle 8"/>
          <p:cNvSpPr/>
          <p:nvPr/>
        </p:nvSpPr>
        <p:spPr>
          <a:xfrm>
            <a:off x="4297680" y="1783080"/>
            <a:ext cx="1371600" cy="59436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Salesforce</a:t>
            </a:r>
          </a:p>
        </p:txBody>
      </p:sp>
      <p:sp>
        <p:nvSpPr>
          <p:cNvPr id="10" name="Rounded Rectangle 9"/>
          <p:cNvSpPr/>
          <p:nvPr/>
        </p:nvSpPr>
        <p:spPr>
          <a:xfrm>
            <a:off x="4297680" y="2587752"/>
            <a:ext cx="1371600" cy="594360"/>
          </a:xfrm>
          <a:prstGeom prst="round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GitHub</a:t>
            </a:r>
          </a:p>
        </p:txBody>
      </p:sp>
      <p:sp>
        <p:nvSpPr>
          <p:cNvPr id="11" name="Rounded Rectangle 10"/>
          <p:cNvSpPr/>
          <p:nvPr/>
        </p:nvSpPr>
        <p:spPr>
          <a:xfrm>
            <a:off x="4297680" y="3392424"/>
            <a:ext cx="1371600" cy="59436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Slack</a:t>
            </a:r>
          </a:p>
        </p:txBody>
      </p:sp>
      <p:cxnSp>
        <p:nvCxnSpPr>
          <p:cNvPr id="12" name="Connector 11"/>
          <p:cNvCxnSpPr/>
          <p:nvPr/>
        </p:nvCxnSpPr>
        <p:spPr>
          <a:xfrm>
            <a:off x="1664208" y="1993392"/>
            <a:ext cx="2615184" cy="64008"/>
          </a:xfrm>
          <a:prstGeom prst="line">
            <a:avLst/>
          </a:prstGeom>
          <a:ln w="15240">
            <a:solidFill>
              <a:srgbClr val="C0101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64208" y="1993392"/>
            <a:ext cx="2615184" cy="859536"/>
          </a:xfrm>
          <a:prstGeom prst="line">
            <a:avLst/>
          </a:prstGeom>
          <a:ln w="15240">
            <a:solidFill>
              <a:srgbClr val="C0101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664208" y="2057400"/>
            <a:ext cx="2615184" cy="740664"/>
          </a:xfrm>
          <a:prstGeom prst="line">
            <a:avLst/>
          </a:prstGeom>
          <a:ln w="15240">
            <a:solidFill>
              <a:srgbClr val="C0101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664208" y="2798064"/>
            <a:ext cx="2615184" cy="54864"/>
          </a:xfrm>
          <a:prstGeom prst="line">
            <a:avLst/>
          </a:prstGeom>
          <a:ln w="15240">
            <a:solidFill>
              <a:srgbClr val="C0101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664208" y="2798064"/>
            <a:ext cx="2615184" cy="859536"/>
          </a:xfrm>
          <a:prstGeom prst="line">
            <a:avLst/>
          </a:prstGeom>
          <a:ln w="15240">
            <a:solidFill>
              <a:srgbClr val="C0101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664208" y="2852928"/>
            <a:ext cx="2615184" cy="749808"/>
          </a:xfrm>
          <a:prstGeom prst="line">
            <a:avLst/>
          </a:prstGeom>
          <a:ln w="15240">
            <a:solidFill>
              <a:srgbClr val="C0101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64208" y="3602736"/>
            <a:ext cx="2615184" cy="54864"/>
          </a:xfrm>
          <a:prstGeom prst="line">
            <a:avLst/>
          </a:prstGeom>
          <a:ln w="15240">
            <a:solidFill>
              <a:srgbClr val="C0101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377440" y="2560320"/>
            <a:ext cx="1828800" cy="914400"/>
          </a:xfrm>
          <a:prstGeom prst="rect">
            <a:avLst/>
          </a:prstGeom>
          <a:noFill/>
        </p:spPr>
        <p:txBody>
          <a:bodyPr wrap="square">
            <a:spAutoFit/>
          </a:bodyPr>
          <a:lstStyle/>
          <a:p>
            <a:pPr algn="ctr"/>
            <a:r>
              <a:rPr sz="900" b="1" i="1">
                <a:solidFill>
                  <a:srgbClr val="C01010"/>
                </a:solidFill>
              </a:rPr>
              <a:t>Custom code
needed for each
connection</a:t>
            </a:r>
          </a:p>
        </p:txBody>
      </p:sp>
      <p:sp>
        <p:nvSpPr>
          <p:cNvPr id="20" name="TextBox 19"/>
          <p:cNvSpPr txBox="1"/>
          <p:nvPr/>
        </p:nvSpPr>
        <p:spPr>
          <a:xfrm>
            <a:off x="274320" y="4663440"/>
            <a:ext cx="5577840" cy="365760"/>
          </a:xfrm>
          <a:prstGeom prst="rect">
            <a:avLst/>
          </a:prstGeom>
          <a:noFill/>
        </p:spPr>
        <p:txBody>
          <a:bodyPr wrap="square">
            <a:spAutoFit/>
          </a:bodyPr>
          <a:lstStyle/>
          <a:p>
            <a:pPr algn="ctr"/>
            <a:r>
              <a:rPr sz="1000" b="0" i="1">
                <a:solidFill>
                  <a:srgbClr val="C01010"/>
                </a:solidFill>
              </a:rPr>
              <a:t>9 separate code paths just for 3 AI tools + 3 systems</a:t>
            </a:r>
          </a:p>
        </p:txBody>
      </p:sp>
      <p:sp>
        <p:nvSpPr>
          <p:cNvPr id="21" name="TextBox 20"/>
          <p:cNvSpPr txBox="1"/>
          <p:nvPr/>
        </p:nvSpPr>
        <p:spPr>
          <a:xfrm>
            <a:off x="274320" y="5029200"/>
            <a:ext cx="5577840" cy="320040"/>
          </a:xfrm>
          <a:prstGeom prst="rect">
            <a:avLst/>
          </a:prstGeom>
          <a:noFill/>
        </p:spPr>
        <p:txBody>
          <a:bodyPr wrap="square">
            <a:spAutoFit/>
          </a:bodyPr>
          <a:lstStyle/>
          <a:p>
            <a:pPr algn="ctr"/>
            <a:r>
              <a:rPr sz="1000" b="0" i="1">
                <a:solidFill>
                  <a:srgbClr val="C01010"/>
                </a:solidFill>
              </a:rPr>
              <a:t>What if you add a 4th system?  Write 3 more integrations!</a:t>
            </a:r>
          </a:p>
        </p:txBody>
      </p:sp>
      <p:sp>
        <p:nvSpPr>
          <p:cNvPr id="22" name="Rectangle 21"/>
          <p:cNvSpPr/>
          <p:nvPr/>
        </p:nvSpPr>
        <p:spPr>
          <a:xfrm>
            <a:off x="6153912" y="1143000"/>
            <a:ext cx="5577840" cy="411480"/>
          </a:xfrm>
          <a:prstGeom prst="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AFTER MCP</a:t>
            </a:r>
          </a:p>
        </p:txBody>
      </p:sp>
      <p:sp>
        <p:nvSpPr>
          <p:cNvPr id="23" name="Rounded Rectangle 22"/>
          <p:cNvSpPr/>
          <p:nvPr/>
        </p:nvSpPr>
        <p:spPr>
          <a:xfrm>
            <a:off x="6153912" y="1783080"/>
            <a:ext cx="1371600" cy="59436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Claude</a:t>
            </a:r>
          </a:p>
        </p:txBody>
      </p:sp>
      <p:sp>
        <p:nvSpPr>
          <p:cNvPr id="24" name="Rounded Rectangle 23"/>
          <p:cNvSpPr/>
          <p:nvPr/>
        </p:nvSpPr>
        <p:spPr>
          <a:xfrm>
            <a:off x="6153912" y="2587752"/>
            <a:ext cx="1371600" cy="59436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Cursor</a:t>
            </a:r>
          </a:p>
        </p:txBody>
      </p:sp>
      <p:sp>
        <p:nvSpPr>
          <p:cNvPr id="25" name="Rounded Rectangle 24"/>
          <p:cNvSpPr/>
          <p:nvPr/>
        </p:nvSpPr>
        <p:spPr>
          <a:xfrm>
            <a:off x="6153912" y="3392424"/>
            <a:ext cx="1371600" cy="59436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Codex</a:t>
            </a:r>
          </a:p>
        </p:txBody>
      </p:sp>
      <p:sp>
        <p:nvSpPr>
          <p:cNvPr id="26" name="Rounded Rectangle 25"/>
          <p:cNvSpPr/>
          <p:nvPr/>
        </p:nvSpPr>
        <p:spPr>
          <a:xfrm>
            <a:off x="8257031" y="2331720"/>
            <a:ext cx="1737360" cy="141732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MCP
SERVER</a:t>
            </a:r>
          </a:p>
        </p:txBody>
      </p:sp>
      <p:sp>
        <p:nvSpPr>
          <p:cNvPr id="27" name="Rounded Rectangle 26"/>
          <p:cNvSpPr/>
          <p:nvPr/>
        </p:nvSpPr>
        <p:spPr>
          <a:xfrm>
            <a:off x="10177272" y="1783080"/>
            <a:ext cx="1554480" cy="59436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Salesforce</a:t>
            </a:r>
          </a:p>
        </p:txBody>
      </p:sp>
      <p:sp>
        <p:nvSpPr>
          <p:cNvPr id="28" name="Rounded Rectangle 27"/>
          <p:cNvSpPr/>
          <p:nvPr/>
        </p:nvSpPr>
        <p:spPr>
          <a:xfrm>
            <a:off x="10177272" y="2587752"/>
            <a:ext cx="1554480" cy="594360"/>
          </a:xfrm>
          <a:prstGeom prst="round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GitHub</a:t>
            </a:r>
          </a:p>
        </p:txBody>
      </p:sp>
      <p:sp>
        <p:nvSpPr>
          <p:cNvPr id="29" name="Rounded Rectangle 28"/>
          <p:cNvSpPr/>
          <p:nvPr/>
        </p:nvSpPr>
        <p:spPr>
          <a:xfrm>
            <a:off x="10177272" y="3392424"/>
            <a:ext cx="1554480" cy="59436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rPr>
              <a:t>Slack</a:t>
            </a:r>
          </a:p>
        </p:txBody>
      </p:sp>
      <p:cxnSp>
        <p:nvCxnSpPr>
          <p:cNvPr id="30" name="Connector 29"/>
          <p:cNvCxnSpPr/>
          <p:nvPr/>
        </p:nvCxnSpPr>
        <p:spPr>
          <a:xfrm>
            <a:off x="7543800" y="2011680"/>
            <a:ext cx="713231" cy="1024128"/>
          </a:xfrm>
          <a:prstGeom prst="line">
            <a:avLst/>
          </a:prstGeom>
          <a:ln w="19050">
            <a:solidFill>
              <a:srgbClr val="06A59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543800" y="2816352"/>
            <a:ext cx="713231" cy="219456"/>
          </a:xfrm>
          <a:prstGeom prst="line">
            <a:avLst/>
          </a:prstGeom>
          <a:ln w="19050">
            <a:solidFill>
              <a:srgbClr val="06A59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543800" y="3035808"/>
            <a:ext cx="713231" cy="585216"/>
          </a:xfrm>
          <a:prstGeom prst="line">
            <a:avLst/>
          </a:prstGeom>
          <a:ln w="19050">
            <a:solidFill>
              <a:srgbClr val="06A59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994392" y="2011680"/>
            <a:ext cx="182880" cy="1024128"/>
          </a:xfrm>
          <a:prstGeom prst="line">
            <a:avLst/>
          </a:prstGeom>
          <a:ln w="19050">
            <a:solidFill>
              <a:srgbClr val="2E844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994392" y="2816352"/>
            <a:ext cx="182880" cy="219456"/>
          </a:xfrm>
          <a:prstGeom prst="line">
            <a:avLst/>
          </a:prstGeom>
          <a:ln w="19050">
            <a:solidFill>
              <a:srgbClr val="2E844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994392" y="3035808"/>
            <a:ext cx="182880" cy="585216"/>
          </a:xfrm>
          <a:prstGeom prst="line">
            <a:avLst/>
          </a:prstGeom>
          <a:ln w="19050">
            <a:solidFill>
              <a:srgbClr val="2E844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153912" y="4663440"/>
            <a:ext cx="5577840" cy="365760"/>
          </a:xfrm>
          <a:prstGeom prst="rect">
            <a:avLst/>
          </a:prstGeom>
          <a:noFill/>
        </p:spPr>
        <p:txBody>
          <a:bodyPr wrap="square">
            <a:spAutoFit/>
          </a:bodyPr>
          <a:lstStyle/>
          <a:p>
            <a:pPr algn="ctr"/>
            <a:r>
              <a:rPr sz="1000" b="1" i="0">
                <a:solidFill>
                  <a:srgbClr val="2E844A"/>
                </a:solidFill>
              </a:rPr>
              <a:t>Only 1 MCP Server needed — all AI tools share it</a:t>
            </a:r>
          </a:p>
        </p:txBody>
      </p:sp>
      <p:sp>
        <p:nvSpPr>
          <p:cNvPr id="37" name="TextBox 36"/>
          <p:cNvSpPr txBox="1"/>
          <p:nvPr/>
        </p:nvSpPr>
        <p:spPr>
          <a:xfrm>
            <a:off x="6153912" y="5029200"/>
            <a:ext cx="5577840" cy="320040"/>
          </a:xfrm>
          <a:prstGeom prst="rect">
            <a:avLst/>
          </a:prstGeom>
          <a:noFill/>
        </p:spPr>
        <p:txBody>
          <a:bodyPr wrap="square">
            <a:spAutoFit/>
          </a:bodyPr>
          <a:lstStyle/>
          <a:p>
            <a:pPr algn="ctr"/>
            <a:r>
              <a:rPr sz="1000" b="0" i="1">
                <a:solidFill>
                  <a:srgbClr val="2E844A"/>
                </a:solidFill>
              </a:rPr>
              <a:t>Add a new system?  Update the MCP Server once.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Logical Tool Grouping in MCP</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Each MCP Server should contain tools for ONE system or purpose only</a:t>
            </a:r>
          </a:p>
        </p:txBody>
      </p:sp>
      <p:sp>
        <p:nvSpPr>
          <p:cNvPr id="4" name="Rounded Rectangle 3"/>
          <p:cNvSpPr/>
          <p:nvPr/>
        </p:nvSpPr>
        <p:spPr>
          <a:xfrm>
            <a:off x="365760" y="1417320"/>
            <a:ext cx="3611880" cy="475488"/>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GitHub MCP Server</a:t>
            </a:r>
          </a:p>
        </p:txBody>
      </p:sp>
      <p:sp>
        <p:nvSpPr>
          <p:cNvPr id="5" name="Rounded Rectangle 4"/>
          <p:cNvSpPr/>
          <p:nvPr/>
        </p:nvSpPr>
        <p:spPr>
          <a:xfrm>
            <a:off x="457200" y="2011680"/>
            <a:ext cx="3429000" cy="566928"/>
          </a:xfrm>
          <a:prstGeom prst="roundRect">
            <a:avLst/>
          </a:prstGeom>
          <a:solidFill>
            <a:srgbClr val="F0F4FF"/>
          </a:solidFill>
          <a:ln w="12700">
            <a:solidFill>
              <a:srgbClr val="032D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21408"/>
            <a:ext cx="3246120" cy="384048"/>
          </a:xfrm>
          <a:prstGeom prst="rect">
            <a:avLst/>
          </a:prstGeom>
          <a:noFill/>
        </p:spPr>
        <p:txBody>
          <a:bodyPr wrap="square">
            <a:spAutoFit/>
          </a:bodyPr>
          <a:lstStyle/>
          <a:p>
            <a:pPr algn="l"/>
            <a:r>
              <a:rPr sz="1100" b="0" i="0">
                <a:solidFill>
                  <a:srgbClr val="032D60"/>
                </a:solidFill>
              </a:rPr>
              <a:t>  Create / delete branch</a:t>
            </a:r>
          </a:p>
        </p:txBody>
      </p:sp>
      <p:sp>
        <p:nvSpPr>
          <p:cNvPr id="7" name="Rounded Rectangle 6"/>
          <p:cNvSpPr/>
          <p:nvPr/>
        </p:nvSpPr>
        <p:spPr>
          <a:xfrm>
            <a:off x="457200" y="2724912"/>
            <a:ext cx="3429000" cy="566928"/>
          </a:xfrm>
          <a:prstGeom prst="roundRect">
            <a:avLst/>
          </a:prstGeom>
          <a:solidFill>
            <a:srgbClr val="F0F4FF"/>
          </a:solidFill>
          <a:ln w="12700">
            <a:solidFill>
              <a:srgbClr val="032D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834640"/>
            <a:ext cx="3246120" cy="384048"/>
          </a:xfrm>
          <a:prstGeom prst="rect">
            <a:avLst/>
          </a:prstGeom>
          <a:noFill/>
        </p:spPr>
        <p:txBody>
          <a:bodyPr wrap="square">
            <a:spAutoFit/>
          </a:bodyPr>
          <a:lstStyle/>
          <a:p>
            <a:pPr algn="l"/>
            <a:r>
              <a:rPr sz="1100" b="0" i="0">
                <a:solidFill>
                  <a:srgbClr val="032D60"/>
                </a:solidFill>
              </a:rPr>
              <a:t>  Open pull request</a:t>
            </a:r>
          </a:p>
        </p:txBody>
      </p:sp>
      <p:sp>
        <p:nvSpPr>
          <p:cNvPr id="9" name="Rounded Rectangle 8"/>
          <p:cNvSpPr/>
          <p:nvPr/>
        </p:nvSpPr>
        <p:spPr>
          <a:xfrm>
            <a:off x="457200" y="3438144"/>
            <a:ext cx="3429000" cy="566928"/>
          </a:xfrm>
          <a:prstGeom prst="roundRect">
            <a:avLst/>
          </a:prstGeom>
          <a:solidFill>
            <a:srgbClr val="F0F4FF"/>
          </a:solidFill>
          <a:ln w="12700">
            <a:solidFill>
              <a:srgbClr val="032D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547872"/>
            <a:ext cx="3246120" cy="384048"/>
          </a:xfrm>
          <a:prstGeom prst="rect">
            <a:avLst/>
          </a:prstGeom>
          <a:noFill/>
        </p:spPr>
        <p:txBody>
          <a:bodyPr wrap="square">
            <a:spAutoFit/>
          </a:bodyPr>
          <a:lstStyle/>
          <a:p>
            <a:pPr algn="l"/>
            <a:r>
              <a:rPr sz="1100" b="0" i="0">
                <a:solidFill>
                  <a:srgbClr val="032D60"/>
                </a:solidFill>
              </a:rPr>
              <a:t>  Commit code</a:t>
            </a:r>
          </a:p>
        </p:txBody>
      </p:sp>
      <p:sp>
        <p:nvSpPr>
          <p:cNvPr id="11" name="Rounded Rectangle 10"/>
          <p:cNvSpPr/>
          <p:nvPr/>
        </p:nvSpPr>
        <p:spPr>
          <a:xfrm>
            <a:off x="457200" y="4151376"/>
            <a:ext cx="3429000" cy="566928"/>
          </a:xfrm>
          <a:prstGeom prst="roundRect">
            <a:avLst/>
          </a:prstGeom>
          <a:solidFill>
            <a:srgbClr val="F0F4FF"/>
          </a:solidFill>
          <a:ln w="12700">
            <a:solidFill>
              <a:srgbClr val="032D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261104"/>
            <a:ext cx="3246120" cy="384048"/>
          </a:xfrm>
          <a:prstGeom prst="rect">
            <a:avLst/>
          </a:prstGeom>
          <a:noFill/>
        </p:spPr>
        <p:txBody>
          <a:bodyPr wrap="square">
            <a:spAutoFit/>
          </a:bodyPr>
          <a:lstStyle/>
          <a:p>
            <a:pPr algn="l"/>
            <a:r>
              <a:rPr sz="1100" b="0" i="0">
                <a:solidFill>
                  <a:srgbClr val="032D60"/>
                </a:solidFill>
              </a:rPr>
              <a:t>  Checkout branch</a:t>
            </a:r>
          </a:p>
        </p:txBody>
      </p:sp>
      <p:sp>
        <p:nvSpPr>
          <p:cNvPr id="13" name="Rounded Rectangle 12"/>
          <p:cNvSpPr/>
          <p:nvPr/>
        </p:nvSpPr>
        <p:spPr>
          <a:xfrm>
            <a:off x="457200" y="4864608"/>
            <a:ext cx="3429000" cy="566928"/>
          </a:xfrm>
          <a:prstGeom prst="roundRect">
            <a:avLst/>
          </a:prstGeom>
          <a:solidFill>
            <a:srgbClr val="F0F4FF"/>
          </a:solidFill>
          <a:ln w="12700">
            <a:solidFill>
              <a:srgbClr val="032D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974336"/>
            <a:ext cx="3246120" cy="384048"/>
          </a:xfrm>
          <a:prstGeom prst="rect">
            <a:avLst/>
          </a:prstGeom>
          <a:noFill/>
        </p:spPr>
        <p:txBody>
          <a:bodyPr wrap="square">
            <a:spAutoFit/>
          </a:bodyPr>
          <a:lstStyle/>
          <a:p>
            <a:pPr algn="l"/>
            <a:r>
              <a:rPr sz="1100" b="0" i="0">
                <a:solidFill>
                  <a:srgbClr val="032D60"/>
                </a:solidFill>
              </a:rPr>
              <a:t>  Merge pull request</a:t>
            </a:r>
          </a:p>
        </p:txBody>
      </p:sp>
      <p:sp>
        <p:nvSpPr>
          <p:cNvPr id="15" name="Rounded Rectangle 14"/>
          <p:cNvSpPr/>
          <p:nvPr/>
        </p:nvSpPr>
        <p:spPr>
          <a:xfrm>
            <a:off x="4279392" y="1417320"/>
            <a:ext cx="3611880" cy="475488"/>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Salesforce MCP Server</a:t>
            </a:r>
          </a:p>
        </p:txBody>
      </p:sp>
      <p:sp>
        <p:nvSpPr>
          <p:cNvPr id="16" name="Rounded Rectangle 15"/>
          <p:cNvSpPr/>
          <p:nvPr/>
        </p:nvSpPr>
        <p:spPr>
          <a:xfrm>
            <a:off x="4370832" y="2011680"/>
            <a:ext cx="3429000" cy="566928"/>
          </a:xfrm>
          <a:prstGeom prst="roundRect">
            <a:avLst/>
          </a:prstGeom>
          <a:solidFill>
            <a:srgbClr val="F0F4FF"/>
          </a:solidFill>
          <a:ln w="12700">
            <a:solidFill>
              <a:srgbClr val="017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16552" y="2121408"/>
            <a:ext cx="3246120" cy="384048"/>
          </a:xfrm>
          <a:prstGeom prst="rect">
            <a:avLst/>
          </a:prstGeom>
          <a:noFill/>
        </p:spPr>
        <p:txBody>
          <a:bodyPr wrap="square">
            <a:spAutoFit/>
          </a:bodyPr>
          <a:lstStyle/>
          <a:p>
            <a:pPr algn="l"/>
            <a:r>
              <a:rPr sz="1100" b="0" i="0">
                <a:solidFill>
                  <a:srgbClr val="0176D3"/>
                </a:solidFill>
              </a:rPr>
              <a:t>  Query records (SOQL)</a:t>
            </a:r>
          </a:p>
        </p:txBody>
      </p:sp>
      <p:sp>
        <p:nvSpPr>
          <p:cNvPr id="18" name="Rounded Rectangle 17"/>
          <p:cNvSpPr/>
          <p:nvPr/>
        </p:nvSpPr>
        <p:spPr>
          <a:xfrm>
            <a:off x="4370832" y="2724912"/>
            <a:ext cx="3429000" cy="566928"/>
          </a:xfrm>
          <a:prstGeom prst="roundRect">
            <a:avLst/>
          </a:prstGeom>
          <a:solidFill>
            <a:srgbClr val="F0F4FF"/>
          </a:solidFill>
          <a:ln w="12700">
            <a:solidFill>
              <a:srgbClr val="017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6552" y="2834640"/>
            <a:ext cx="3246120" cy="384048"/>
          </a:xfrm>
          <a:prstGeom prst="rect">
            <a:avLst/>
          </a:prstGeom>
          <a:noFill/>
        </p:spPr>
        <p:txBody>
          <a:bodyPr wrap="square">
            <a:spAutoFit/>
          </a:bodyPr>
          <a:lstStyle/>
          <a:p>
            <a:pPr algn="l"/>
            <a:r>
              <a:rPr sz="1100" b="0" i="0">
                <a:solidFill>
                  <a:srgbClr val="0176D3"/>
                </a:solidFill>
              </a:rPr>
              <a:t>  Create record</a:t>
            </a:r>
          </a:p>
        </p:txBody>
      </p:sp>
      <p:sp>
        <p:nvSpPr>
          <p:cNvPr id="20" name="Rounded Rectangle 19"/>
          <p:cNvSpPr/>
          <p:nvPr/>
        </p:nvSpPr>
        <p:spPr>
          <a:xfrm>
            <a:off x="4370832" y="3438144"/>
            <a:ext cx="3429000" cy="566928"/>
          </a:xfrm>
          <a:prstGeom prst="roundRect">
            <a:avLst/>
          </a:prstGeom>
          <a:solidFill>
            <a:srgbClr val="F0F4FF"/>
          </a:solidFill>
          <a:ln w="12700">
            <a:solidFill>
              <a:srgbClr val="017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16552" y="3547872"/>
            <a:ext cx="3246120" cy="384048"/>
          </a:xfrm>
          <a:prstGeom prst="rect">
            <a:avLst/>
          </a:prstGeom>
          <a:noFill/>
        </p:spPr>
        <p:txBody>
          <a:bodyPr wrap="square">
            <a:spAutoFit/>
          </a:bodyPr>
          <a:lstStyle/>
          <a:p>
            <a:pPr algn="l"/>
            <a:r>
              <a:rPr sz="1100" b="0" i="0">
                <a:solidFill>
                  <a:srgbClr val="0176D3"/>
                </a:solidFill>
              </a:rPr>
              <a:t>  Update record</a:t>
            </a:r>
          </a:p>
        </p:txBody>
      </p:sp>
      <p:sp>
        <p:nvSpPr>
          <p:cNvPr id="22" name="Rounded Rectangle 21"/>
          <p:cNvSpPr/>
          <p:nvPr/>
        </p:nvSpPr>
        <p:spPr>
          <a:xfrm>
            <a:off x="4370832" y="4151376"/>
            <a:ext cx="3429000" cy="566928"/>
          </a:xfrm>
          <a:prstGeom prst="roundRect">
            <a:avLst/>
          </a:prstGeom>
          <a:solidFill>
            <a:srgbClr val="F0F4FF"/>
          </a:solidFill>
          <a:ln w="12700">
            <a:solidFill>
              <a:srgbClr val="017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16552" y="4261104"/>
            <a:ext cx="3246120" cy="384048"/>
          </a:xfrm>
          <a:prstGeom prst="rect">
            <a:avLst/>
          </a:prstGeom>
          <a:noFill/>
        </p:spPr>
        <p:txBody>
          <a:bodyPr wrap="square">
            <a:spAutoFit/>
          </a:bodyPr>
          <a:lstStyle/>
          <a:p>
            <a:pPr algn="l"/>
            <a:r>
              <a:rPr sz="1100" b="0" i="0">
                <a:solidFill>
                  <a:srgbClr val="0176D3"/>
                </a:solidFill>
              </a:rPr>
              <a:t>  Delete record</a:t>
            </a:r>
          </a:p>
        </p:txBody>
      </p:sp>
      <p:sp>
        <p:nvSpPr>
          <p:cNvPr id="24" name="Rounded Rectangle 23"/>
          <p:cNvSpPr/>
          <p:nvPr/>
        </p:nvSpPr>
        <p:spPr>
          <a:xfrm>
            <a:off x="4370832" y="4864608"/>
            <a:ext cx="3429000" cy="566928"/>
          </a:xfrm>
          <a:prstGeom prst="roundRect">
            <a:avLst/>
          </a:prstGeom>
          <a:solidFill>
            <a:srgbClr val="F0F4FF"/>
          </a:solidFill>
          <a:ln w="12700">
            <a:solidFill>
              <a:srgbClr val="017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16552" y="4974336"/>
            <a:ext cx="3246120" cy="384048"/>
          </a:xfrm>
          <a:prstGeom prst="rect">
            <a:avLst/>
          </a:prstGeom>
          <a:noFill/>
        </p:spPr>
        <p:txBody>
          <a:bodyPr wrap="square">
            <a:spAutoFit/>
          </a:bodyPr>
          <a:lstStyle/>
          <a:p>
            <a:pPr algn="l"/>
            <a:r>
              <a:rPr sz="1100" b="0" i="0">
                <a:solidFill>
                  <a:srgbClr val="0176D3"/>
                </a:solidFill>
              </a:rPr>
              <a:t>  Run report</a:t>
            </a:r>
          </a:p>
        </p:txBody>
      </p:sp>
      <p:sp>
        <p:nvSpPr>
          <p:cNvPr id="26" name="Rounded Rectangle 25"/>
          <p:cNvSpPr/>
          <p:nvPr/>
        </p:nvSpPr>
        <p:spPr>
          <a:xfrm>
            <a:off x="8193024" y="1417320"/>
            <a:ext cx="3611880" cy="475488"/>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Slack MCP Server</a:t>
            </a:r>
          </a:p>
        </p:txBody>
      </p:sp>
      <p:sp>
        <p:nvSpPr>
          <p:cNvPr id="27" name="Rounded Rectangle 26"/>
          <p:cNvSpPr/>
          <p:nvPr/>
        </p:nvSpPr>
        <p:spPr>
          <a:xfrm>
            <a:off x="8284464" y="2011680"/>
            <a:ext cx="3429000" cy="566928"/>
          </a:xfrm>
          <a:prstGeom prst="roundRect">
            <a:avLst/>
          </a:prstGeom>
          <a:solidFill>
            <a:srgbClr val="F0F4FF"/>
          </a:solidFill>
          <a:ln w="12700">
            <a:solidFill>
              <a:srgbClr val="905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0184" y="2121408"/>
            <a:ext cx="3246120" cy="384048"/>
          </a:xfrm>
          <a:prstGeom prst="rect">
            <a:avLst/>
          </a:prstGeom>
          <a:noFill/>
        </p:spPr>
        <p:txBody>
          <a:bodyPr wrap="square">
            <a:spAutoFit/>
          </a:bodyPr>
          <a:lstStyle/>
          <a:p>
            <a:pPr algn="l"/>
            <a:r>
              <a:rPr sz="1100" b="0" i="0">
                <a:solidFill>
                  <a:srgbClr val="9050E9"/>
                </a:solidFill>
              </a:rPr>
              <a:t>  Send message</a:t>
            </a:r>
          </a:p>
        </p:txBody>
      </p:sp>
      <p:sp>
        <p:nvSpPr>
          <p:cNvPr id="29" name="Rounded Rectangle 28"/>
          <p:cNvSpPr/>
          <p:nvPr/>
        </p:nvSpPr>
        <p:spPr>
          <a:xfrm>
            <a:off x="8284464" y="2724912"/>
            <a:ext cx="3429000" cy="566928"/>
          </a:xfrm>
          <a:prstGeom prst="roundRect">
            <a:avLst/>
          </a:prstGeom>
          <a:solidFill>
            <a:srgbClr val="F0F4FF"/>
          </a:solidFill>
          <a:ln w="12700">
            <a:solidFill>
              <a:srgbClr val="905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0184" y="2834640"/>
            <a:ext cx="3246120" cy="384048"/>
          </a:xfrm>
          <a:prstGeom prst="rect">
            <a:avLst/>
          </a:prstGeom>
          <a:noFill/>
        </p:spPr>
        <p:txBody>
          <a:bodyPr wrap="square">
            <a:spAutoFit/>
          </a:bodyPr>
          <a:lstStyle/>
          <a:p>
            <a:pPr algn="l"/>
            <a:r>
              <a:rPr sz="1100" b="0" i="0">
                <a:solidFill>
                  <a:srgbClr val="9050E9"/>
                </a:solidFill>
              </a:rPr>
              <a:t>  Create channel</a:t>
            </a:r>
          </a:p>
        </p:txBody>
      </p:sp>
      <p:sp>
        <p:nvSpPr>
          <p:cNvPr id="31" name="Rounded Rectangle 30"/>
          <p:cNvSpPr/>
          <p:nvPr/>
        </p:nvSpPr>
        <p:spPr>
          <a:xfrm>
            <a:off x="8284464" y="3438144"/>
            <a:ext cx="3429000" cy="566928"/>
          </a:xfrm>
          <a:prstGeom prst="roundRect">
            <a:avLst/>
          </a:prstGeom>
          <a:solidFill>
            <a:srgbClr val="F0F4FF"/>
          </a:solidFill>
          <a:ln w="12700">
            <a:solidFill>
              <a:srgbClr val="905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30184" y="3547872"/>
            <a:ext cx="3246120" cy="384048"/>
          </a:xfrm>
          <a:prstGeom prst="rect">
            <a:avLst/>
          </a:prstGeom>
          <a:noFill/>
        </p:spPr>
        <p:txBody>
          <a:bodyPr wrap="square">
            <a:spAutoFit/>
          </a:bodyPr>
          <a:lstStyle/>
          <a:p>
            <a:pPr algn="l"/>
            <a:r>
              <a:rPr sz="1100" b="0" i="0">
                <a:solidFill>
                  <a:srgbClr val="9050E9"/>
                </a:solidFill>
              </a:rPr>
              <a:t>  Search messages</a:t>
            </a:r>
          </a:p>
        </p:txBody>
      </p:sp>
      <p:sp>
        <p:nvSpPr>
          <p:cNvPr id="33" name="Rounded Rectangle 32"/>
          <p:cNvSpPr/>
          <p:nvPr/>
        </p:nvSpPr>
        <p:spPr>
          <a:xfrm>
            <a:off x="8284464" y="4151376"/>
            <a:ext cx="3429000" cy="566928"/>
          </a:xfrm>
          <a:prstGeom prst="roundRect">
            <a:avLst/>
          </a:prstGeom>
          <a:solidFill>
            <a:srgbClr val="F0F4FF"/>
          </a:solidFill>
          <a:ln w="12700">
            <a:solidFill>
              <a:srgbClr val="905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4261104"/>
            <a:ext cx="3246120" cy="384048"/>
          </a:xfrm>
          <a:prstGeom prst="rect">
            <a:avLst/>
          </a:prstGeom>
          <a:noFill/>
        </p:spPr>
        <p:txBody>
          <a:bodyPr wrap="square">
            <a:spAutoFit/>
          </a:bodyPr>
          <a:lstStyle/>
          <a:p>
            <a:pPr algn="l"/>
            <a:r>
              <a:rPr sz="1100" b="0" i="0">
                <a:solidFill>
                  <a:srgbClr val="9050E9"/>
                </a:solidFill>
              </a:rPr>
              <a:t>  Post announcement</a:t>
            </a:r>
          </a:p>
        </p:txBody>
      </p:sp>
      <p:sp>
        <p:nvSpPr>
          <p:cNvPr id="35" name="Rounded Rectangle 34"/>
          <p:cNvSpPr/>
          <p:nvPr/>
        </p:nvSpPr>
        <p:spPr>
          <a:xfrm>
            <a:off x="8284464" y="4864608"/>
            <a:ext cx="3429000" cy="566928"/>
          </a:xfrm>
          <a:prstGeom prst="roundRect">
            <a:avLst/>
          </a:prstGeom>
          <a:solidFill>
            <a:srgbClr val="F0F4FF"/>
          </a:solidFill>
          <a:ln w="12700">
            <a:solidFill>
              <a:srgbClr val="905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0184" y="4974336"/>
            <a:ext cx="3246120" cy="384048"/>
          </a:xfrm>
          <a:prstGeom prst="rect">
            <a:avLst/>
          </a:prstGeom>
          <a:noFill/>
        </p:spPr>
        <p:txBody>
          <a:bodyPr wrap="square">
            <a:spAutoFit/>
          </a:bodyPr>
          <a:lstStyle/>
          <a:p>
            <a:pPr algn="l"/>
            <a:r>
              <a:rPr sz="1100" b="0" i="0">
                <a:solidFill>
                  <a:srgbClr val="9050E9"/>
                </a:solidFill>
              </a:rPr>
              <a:t>  List channels</a:t>
            </a:r>
          </a:p>
        </p:txBody>
      </p:sp>
      <p:sp>
        <p:nvSpPr>
          <p:cNvPr id="37" name="Rounded Rectangle 36"/>
          <p:cNvSpPr/>
          <p:nvPr/>
        </p:nvSpPr>
        <p:spPr>
          <a:xfrm>
            <a:off x="365760" y="5806440"/>
            <a:ext cx="11274552" cy="731520"/>
          </a:xfrm>
          <a:prstGeom prst="roundRect">
            <a:avLst/>
          </a:prstGeom>
          <a:solidFill>
            <a:srgbClr val="FFF3CD"/>
          </a:solidFill>
          <a:ln w="12700">
            <a:solidFill>
              <a:srgbClr val="FE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5852160"/>
            <a:ext cx="11064240" cy="713232"/>
          </a:xfrm>
          <a:prstGeom prst="rect">
            <a:avLst/>
          </a:prstGeom>
          <a:noFill/>
        </p:spPr>
        <p:txBody>
          <a:bodyPr wrap="square">
            <a:spAutoFit/>
          </a:bodyPr>
          <a:lstStyle/>
          <a:p>
            <a:pPr>
              <a:spcBef>
                <a:spcPts val="400"/>
              </a:spcBef>
            </a:pPr>
            <a:r>
              <a:rPr sz="1200" b="1">
                <a:solidFill>
                  <a:srgbClr val="7B4F00"/>
                </a:solidFill>
              </a:rPr>
              <a:t>Why Logical Grouping Matters:</a:t>
            </a:r>
          </a:p>
          <a:p>
            <a:pPr>
              <a:spcBef>
                <a:spcPts val="400"/>
              </a:spcBef>
            </a:pPr>
            <a:r>
              <a:rPr sz="1050" b="0">
                <a:solidFill>
                  <a:srgbClr val="7B4F00"/>
                </a:solidFill>
              </a:rPr>
              <a:t>  The AI reads tool descriptions to decide which one to call. Mixing unrelated tools (e.g., Slack + database) confuses the AI and causes it to call the wrong tool. Keep tools that belong together — together.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Salesforce Built-In MCP Servers</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Salesforce provides ready-made MCP Servers — no custom code needed to get started</a:t>
            </a:r>
          </a:p>
        </p:txBody>
      </p:sp>
      <p:sp>
        <p:nvSpPr>
          <p:cNvPr id="4" name="Rounded Rectangle 3"/>
          <p:cNvSpPr/>
          <p:nvPr/>
        </p:nvSpPr>
        <p:spPr>
          <a:xfrm>
            <a:off x="457200" y="1481328"/>
            <a:ext cx="11274552" cy="45720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Setup  →  Quick Find  →  'MCP Servers'  →  select MCP Servers under API Catalog</a:t>
            </a:r>
          </a:p>
        </p:txBody>
      </p:sp>
      <p:sp>
        <p:nvSpPr>
          <p:cNvPr id="5" name="Rounded Rectangle 4"/>
          <p:cNvSpPr/>
          <p:nvPr/>
        </p:nvSpPr>
        <p:spPr>
          <a:xfrm>
            <a:off x="457200" y="2148840"/>
            <a:ext cx="7772400" cy="3154680"/>
          </a:xfrm>
          <a:prstGeom prst="roundRect">
            <a:avLst/>
          </a:prstGeom>
          <a:solidFill>
            <a:srgbClr val="F0F4FF"/>
          </a:solidFill>
          <a:ln w="19050">
            <a:solidFill>
              <a:srgbClr val="017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2221992"/>
            <a:ext cx="7498079" cy="3063240"/>
          </a:xfrm>
          <a:prstGeom prst="rect">
            <a:avLst/>
          </a:prstGeom>
          <a:noFill/>
        </p:spPr>
        <p:txBody>
          <a:bodyPr wrap="square">
            <a:spAutoFit/>
          </a:bodyPr>
          <a:lstStyle/>
          <a:p>
            <a:pPr>
              <a:spcBef>
                <a:spcPts val="400"/>
              </a:spcBef>
            </a:pPr>
            <a:r>
              <a:rPr sz="1400" b="1">
                <a:solidFill>
                  <a:srgbClr val="0176D3"/>
                </a:solidFill>
              </a:rPr>
              <a:t>SObject Reads  —  Read-Only Built-In MCP Server</a:t>
            </a:r>
          </a:p>
          <a:p>
            <a:pPr>
              <a:spcBef>
                <a:spcPts val="400"/>
              </a:spcBef>
            </a:pPr>
            <a:r>
              <a:rPr sz="1150" b="0">
                <a:solidFill>
                  <a:srgbClr val="555555"/>
                </a:solidFill>
              </a:rPr>
              <a:t>  What it does:  Lets any AI tool READ Salesforce records — no writes, no deletes</a:t>
            </a:r>
          </a:p>
          <a:p>
            <a:pPr>
              <a:spcBef>
                <a:spcPts val="400"/>
              </a:spcBef>
            </a:pPr>
            <a:r>
              <a:rPr sz="1150" b="1">
                <a:solidFill>
                  <a:srgbClr val="032D60"/>
                </a:solidFill>
              </a:rPr>
              <a:t>  Tools included:</a:t>
            </a:r>
          </a:p>
          <a:p>
            <a:pPr>
              <a:spcBef>
                <a:spcPts val="400"/>
              </a:spcBef>
            </a:pPr>
            <a:r>
              <a:rPr sz="1100" b="0">
                <a:solidFill>
                  <a:srgbClr val="555555"/>
                </a:solidFill>
              </a:rPr>
              <a:t>      Find records  (search across objects)</a:t>
            </a:r>
          </a:p>
          <a:p>
            <a:pPr>
              <a:spcBef>
                <a:spcPts val="400"/>
              </a:spcBef>
            </a:pPr>
            <a:r>
              <a:rPr sz="1100" b="0">
                <a:solidFill>
                  <a:srgbClr val="555555"/>
                </a:solidFill>
              </a:rPr>
              <a:t>      Get object schema  (field metadata)</a:t>
            </a:r>
          </a:p>
          <a:p>
            <a:pPr>
              <a:spcBef>
                <a:spcPts val="400"/>
              </a:spcBef>
            </a:pPr>
            <a:r>
              <a:rPr sz="1100" b="0">
                <a:solidFill>
                  <a:srgbClr val="555555"/>
                </a:solidFill>
              </a:rPr>
              <a:t>      Get related records  (parent-child)</a:t>
            </a:r>
          </a:p>
          <a:p>
            <a:pPr>
              <a:spcBef>
                <a:spcPts val="400"/>
              </a:spcBef>
            </a:pPr>
            <a:r>
              <a:rPr sz="1100" b="0">
                <a:solidFill>
                  <a:srgbClr val="555555"/>
                </a:solidFill>
              </a:rPr>
              <a:t>      Run SOQL query  (custom queries)</a:t>
            </a:r>
          </a:p>
          <a:p>
            <a:pPr>
              <a:spcBef>
                <a:spcPts val="400"/>
              </a:spcBef>
            </a:pPr>
            <a:r>
              <a:rPr sz="1100" b="0">
                <a:solidFill>
                  <a:srgbClr val="555555"/>
                </a:solidFill>
              </a:rPr>
              <a:t>      Get user info  (current user details)</a:t>
            </a:r>
          </a:p>
          <a:p>
            <a:pPr>
              <a:spcBef>
                <a:spcPts val="400"/>
              </a:spcBef>
            </a:pPr>
            <a:r>
              <a:rPr sz="1100" b="0">
                <a:solidFill>
                  <a:srgbClr val="555555"/>
                </a:solidFill>
              </a:rPr>
              <a:t>      List recent records  (recently viewed)</a:t>
            </a:r>
          </a:p>
        </p:txBody>
      </p:sp>
      <p:sp>
        <p:nvSpPr>
          <p:cNvPr id="7" name="Rounded Rectangle 6"/>
          <p:cNvSpPr/>
          <p:nvPr/>
        </p:nvSpPr>
        <p:spPr>
          <a:xfrm>
            <a:off x="8412480" y="2148840"/>
            <a:ext cx="3319272" cy="3154680"/>
          </a:xfrm>
          <a:prstGeom prst="roundRect">
            <a:avLst/>
          </a:prstGeom>
          <a:solidFill>
            <a:srgbClr val="D4EDDA"/>
          </a:solidFill>
          <a:ln w="19050">
            <a:solidFill>
              <a:srgbClr val="2E84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49640" y="2221992"/>
            <a:ext cx="3154680" cy="3063240"/>
          </a:xfrm>
          <a:prstGeom prst="rect">
            <a:avLst/>
          </a:prstGeom>
          <a:noFill/>
        </p:spPr>
        <p:txBody>
          <a:bodyPr wrap="square">
            <a:spAutoFit/>
          </a:bodyPr>
          <a:lstStyle/>
          <a:p>
            <a:pPr>
              <a:spcBef>
                <a:spcPts val="400"/>
              </a:spcBef>
            </a:pPr>
            <a:r>
              <a:rPr sz="1300" b="1">
                <a:solidFill>
                  <a:srgbClr val="1A5C2E"/>
                </a:solidFill>
              </a:rPr>
              <a:t>How to Enable</a:t>
            </a:r>
          </a:p>
          <a:p>
            <a:pPr>
              <a:spcBef>
                <a:spcPts val="400"/>
              </a:spcBef>
            </a:pPr>
            <a:r>
              <a:rPr sz="1100" b="0">
                <a:solidFill>
                  <a:srgbClr val="555555"/>
                </a:solidFill>
              </a:rPr>
              <a:t>1.  Go to Setup</a:t>
            </a:r>
          </a:p>
          <a:p>
            <a:pPr>
              <a:spcBef>
                <a:spcPts val="400"/>
              </a:spcBef>
            </a:pPr>
            <a:r>
              <a:rPr sz="1100" b="0">
                <a:solidFill>
                  <a:srgbClr val="555555"/>
                </a:solidFill>
              </a:rPr>
              <a:t>2.  Quick Find: MCP Servers</a:t>
            </a:r>
          </a:p>
          <a:p>
            <a:pPr>
              <a:spcBef>
                <a:spcPts val="400"/>
              </a:spcBef>
            </a:pPr>
            <a:r>
              <a:rPr sz="1100" b="0">
                <a:solidFill>
                  <a:srgbClr val="555555"/>
                </a:solidFill>
              </a:rPr>
              <a:t>3.  Select under API Catalog</a:t>
            </a:r>
          </a:p>
          <a:p>
            <a:pPr>
              <a:spcBef>
                <a:spcPts val="400"/>
              </a:spcBef>
            </a:pPr>
            <a:r>
              <a:rPr sz="1100" b="0">
                <a:solidFill>
                  <a:srgbClr val="555555"/>
                </a:solidFill>
              </a:rPr>
              <a:t>4.  Click SObject Reads</a:t>
            </a:r>
          </a:p>
          <a:p>
            <a:pPr>
              <a:spcBef>
                <a:spcPts val="400"/>
              </a:spcBef>
            </a:pPr>
            <a:r>
              <a:rPr sz="1100" b="0">
                <a:solidFill>
                  <a:srgbClr val="555555"/>
                </a:solidFill>
              </a:rPr>
              <a:t>5.  Toggle it ON</a:t>
            </a:r>
          </a:p>
          <a:p>
            <a:pPr>
              <a:spcBef>
                <a:spcPts val="400"/>
              </a:spcBef>
            </a:pPr>
            <a:r>
              <a:rPr sz="500" b="0">
                <a:solidFill>
                  <a:srgbClr val="555555"/>
                </a:solidFill>
              </a:rPr>
              <a:t> </a:t>
            </a:r>
          </a:p>
          <a:p>
            <a:pPr>
              <a:spcBef>
                <a:spcPts val="400"/>
              </a:spcBef>
            </a:pPr>
            <a:r>
              <a:rPr sz="1000" b="1">
                <a:solidFill>
                  <a:srgbClr val="1A5C2E"/>
                </a:solidFill>
              </a:rPr>
              <a:t>Wait ~2 min to activate</a:t>
            </a:r>
          </a:p>
        </p:txBody>
      </p:sp>
      <p:sp>
        <p:nvSpPr>
          <p:cNvPr id="9" name="Rounded Rectangle 8"/>
          <p:cNvSpPr/>
          <p:nvPr/>
        </p:nvSpPr>
        <p:spPr>
          <a:xfrm>
            <a:off x="457200" y="5440680"/>
            <a:ext cx="11274552" cy="731520"/>
          </a:xfrm>
          <a:prstGeom prst="roundRect">
            <a:avLst/>
          </a:prstGeom>
          <a:solidFill>
            <a:srgbClr val="FFF3CD"/>
          </a:solidFill>
          <a:ln w="12700">
            <a:solidFill>
              <a:srgbClr val="FE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5504688"/>
            <a:ext cx="11064240" cy="685800"/>
          </a:xfrm>
          <a:prstGeom prst="rect">
            <a:avLst/>
          </a:prstGeom>
          <a:noFill/>
        </p:spPr>
        <p:txBody>
          <a:bodyPr wrap="square">
            <a:spAutoFit/>
          </a:bodyPr>
          <a:lstStyle/>
          <a:p>
            <a:pPr>
              <a:spcBef>
                <a:spcPts val="400"/>
              </a:spcBef>
            </a:pPr>
            <a:r>
              <a:rPr sz="1200" b="1">
                <a:solidFill>
                  <a:srgbClr val="7B4F00"/>
                </a:solidFill>
              </a:rPr>
              <a:t>Important:  Enabling the MCP Server is just Step 1.</a:t>
            </a:r>
          </a:p>
          <a:p>
            <a:pPr>
              <a:spcBef>
                <a:spcPts val="400"/>
              </a:spcBef>
            </a:pPr>
            <a:r>
              <a:rPr sz="1050" b="0">
                <a:solidFill>
                  <a:srgbClr val="7B4F00"/>
                </a:solidFill>
              </a:rPr>
              <a:t>  You still need to: (a) create an External Client App for OAuth authentication, and (b) connect Claude to the server using the Server URL and Consumer Key.  External Client App can take up to 30 minutes to become active.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Custom MCP Servers in Salesforce</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Build your own MCP Server using Apex, Flows, and more</a:t>
            </a:r>
          </a:p>
        </p:txBody>
      </p:sp>
      <p:sp>
        <p:nvSpPr>
          <p:cNvPr id="4" name="TextBox 3"/>
          <p:cNvSpPr txBox="1"/>
          <p:nvPr/>
        </p:nvSpPr>
        <p:spPr>
          <a:xfrm>
            <a:off x="457200" y="1481328"/>
            <a:ext cx="10972800" cy="365760"/>
          </a:xfrm>
          <a:prstGeom prst="rect">
            <a:avLst/>
          </a:prstGeom>
          <a:noFill/>
        </p:spPr>
        <p:txBody>
          <a:bodyPr wrap="square">
            <a:spAutoFit/>
          </a:bodyPr>
          <a:lstStyle/>
          <a:p>
            <a:pPr algn="l"/>
            <a:r>
              <a:rPr sz="1300" b="1" i="0">
                <a:solidFill>
                  <a:srgbClr val="032D60"/>
                </a:solidFill>
              </a:rPr>
              <a:t>What you can add as TOOLS inside a Custom MCP Server:</a:t>
            </a:r>
          </a:p>
        </p:txBody>
      </p:sp>
      <p:sp>
        <p:nvSpPr>
          <p:cNvPr id="5" name="Rounded Rectangle 4"/>
          <p:cNvSpPr/>
          <p:nvPr/>
        </p:nvSpPr>
        <p:spPr>
          <a:xfrm>
            <a:off x="365760" y="1920240"/>
            <a:ext cx="2560320" cy="100584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75104"/>
            <a:ext cx="2377440" cy="384048"/>
          </a:xfrm>
          <a:prstGeom prst="rect">
            <a:avLst/>
          </a:prstGeom>
          <a:noFill/>
        </p:spPr>
        <p:txBody>
          <a:bodyPr wrap="square">
            <a:spAutoFit/>
          </a:bodyPr>
          <a:lstStyle/>
          <a:p>
            <a:pPr algn="ctr"/>
            <a:r>
              <a:rPr sz="1200" b="1" i="0">
                <a:solidFill>
                  <a:srgbClr val="FFFFFF"/>
                </a:solidFill>
              </a:rPr>
              <a:t>Apex Class</a:t>
            </a:r>
          </a:p>
        </p:txBody>
      </p:sp>
      <p:sp>
        <p:nvSpPr>
          <p:cNvPr id="7" name="TextBox 6"/>
          <p:cNvSpPr txBox="1"/>
          <p:nvPr/>
        </p:nvSpPr>
        <p:spPr>
          <a:xfrm>
            <a:off x="438912" y="2395728"/>
            <a:ext cx="2423160" cy="502920"/>
          </a:xfrm>
          <a:prstGeom prst="rect">
            <a:avLst/>
          </a:prstGeom>
          <a:noFill/>
        </p:spPr>
        <p:txBody>
          <a:bodyPr wrap="square">
            <a:spAutoFit/>
          </a:bodyPr>
          <a:lstStyle/>
          <a:p>
            <a:pPr algn="ctr"/>
            <a:r>
              <a:rPr sz="950" b="0" i="1">
                <a:solidFill>
                  <a:srgbClr val="FFFFFF"/>
                </a:solidFill>
              </a:rPr>
              <a:t>Standard Apex class
with business logic</a:t>
            </a:r>
          </a:p>
        </p:txBody>
      </p:sp>
      <p:sp>
        <p:nvSpPr>
          <p:cNvPr id="8" name="Rounded Rectangle 7"/>
          <p:cNvSpPr/>
          <p:nvPr/>
        </p:nvSpPr>
        <p:spPr>
          <a:xfrm>
            <a:off x="3200400" y="1920240"/>
            <a:ext cx="2560320" cy="100584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975104"/>
            <a:ext cx="2377440" cy="384048"/>
          </a:xfrm>
          <a:prstGeom prst="rect">
            <a:avLst/>
          </a:prstGeom>
          <a:noFill/>
        </p:spPr>
        <p:txBody>
          <a:bodyPr wrap="square">
            <a:spAutoFit/>
          </a:bodyPr>
          <a:lstStyle/>
          <a:p>
            <a:pPr algn="ctr"/>
            <a:r>
              <a:rPr sz="1200" b="1" i="0">
                <a:solidFill>
                  <a:srgbClr val="FFFFFF"/>
                </a:solidFill>
              </a:rPr>
              <a:t>Apex REST Class</a:t>
            </a:r>
          </a:p>
        </p:txBody>
      </p:sp>
      <p:sp>
        <p:nvSpPr>
          <p:cNvPr id="10" name="TextBox 9"/>
          <p:cNvSpPr txBox="1"/>
          <p:nvPr/>
        </p:nvSpPr>
        <p:spPr>
          <a:xfrm>
            <a:off x="3273552" y="2395728"/>
            <a:ext cx="2423160" cy="502920"/>
          </a:xfrm>
          <a:prstGeom prst="rect">
            <a:avLst/>
          </a:prstGeom>
          <a:noFill/>
        </p:spPr>
        <p:txBody>
          <a:bodyPr wrap="square">
            <a:spAutoFit/>
          </a:bodyPr>
          <a:lstStyle/>
          <a:p>
            <a:pPr algn="ctr"/>
            <a:r>
              <a:rPr sz="950" b="0" i="1">
                <a:solidFill>
                  <a:srgbClr val="FFFFFF"/>
                </a:solidFill>
              </a:rPr>
              <a:t>@RestResource
annotated endpoint</a:t>
            </a:r>
          </a:p>
        </p:txBody>
      </p:sp>
      <p:sp>
        <p:nvSpPr>
          <p:cNvPr id="11" name="Rounded Rectangle 10"/>
          <p:cNvSpPr/>
          <p:nvPr/>
        </p:nvSpPr>
        <p:spPr>
          <a:xfrm>
            <a:off x="6035040" y="1920240"/>
            <a:ext cx="2560320" cy="100584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975104"/>
            <a:ext cx="2377440" cy="384048"/>
          </a:xfrm>
          <a:prstGeom prst="rect">
            <a:avLst/>
          </a:prstGeom>
          <a:noFill/>
        </p:spPr>
        <p:txBody>
          <a:bodyPr wrap="square">
            <a:spAutoFit/>
          </a:bodyPr>
          <a:lstStyle/>
          <a:p>
            <a:pPr algn="ctr"/>
            <a:r>
              <a:rPr sz="1200" b="1" i="0">
                <a:solidFill>
                  <a:srgbClr val="FFFFFF"/>
                </a:solidFill>
              </a:rPr>
              <a:t>Aura Enabled Method</a:t>
            </a:r>
          </a:p>
        </p:txBody>
      </p:sp>
      <p:sp>
        <p:nvSpPr>
          <p:cNvPr id="13" name="TextBox 12"/>
          <p:cNvSpPr txBox="1"/>
          <p:nvPr/>
        </p:nvSpPr>
        <p:spPr>
          <a:xfrm>
            <a:off x="6108192" y="2395728"/>
            <a:ext cx="2423160" cy="502920"/>
          </a:xfrm>
          <a:prstGeom prst="rect">
            <a:avLst/>
          </a:prstGeom>
          <a:noFill/>
        </p:spPr>
        <p:txBody>
          <a:bodyPr wrap="square">
            <a:spAutoFit/>
          </a:bodyPr>
          <a:lstStyle/>
          <a:p>
            <a:pPr algn="ctr"/>
            <a:r>
              <a:rPr sz="950" b="0" i="1">
                <a:solidFill>
                  <a:srgbClr val="FFFFFF"/>
                </a:solidFill>
              </a:rPr>
              <a:t>@AuraEnabled
Apex methods</a:t>
            </a:r>
          </a:p>
        </p:txBody>
      </p:sp>
      <p:sp>
        <p:nvSpPr>
          <p:cNvPr id="14" name="Rounded Rectangle 13"/>
          <p:cNvSpPr/>
          <p:nvPr/>
        </p:nvSpPr>
        <p:spPr>
          <a:xfrm>
            <a:off x="8869680" y="1920240"/>
            <a:ext cx="2560320" cy="1005840"/>
          </a:xfrm>
          <a:prstGeom prst="round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1975104"/>
            <a:ext cx="2377440" cy="384048"/>
          </a:xfrm>
          <a:prstGeom prst="rect">
            <a:avLst/>
          </a:prstGeom>
          <a:noFill/>
        </p:spPr>
        <p:txBody>
          <a:bodyPr wrap="square">
            <a:spAutoFit/>
          </a:bodyPr>
          <a:lstStyle/>
          <a:p>
            <a:pPr algn="ctr"/>
            <a:r>
              <a:rPr sz="1200" b="1" i="0">
                <a:solidFill>
                  <a:srgbClr val="FFFFFF"/>
                </a:solidFill>
              </a:rPr>
              <a:t>Flow</a:t>
            </a:r>
          </a:p>
        </p:txBody>
      </p:sp>
      <p:sp>
        <p:nvSpPr>
          <p:cNvPr id="16" name="TextBox 15"/>
          <p:cNvSpPr txBox="1"/>
          <p:nvPr/>
        </p:nvSpPr>
        <p:spPr>
          <a:xfrm>
            <a:off x="8942832" y="2395728"/>
            <a:ext cx="2423160" cy="502920"/>
          </a:xfrm>
          <a:prstGeom prst="rect">
            <a:avLst/>
          </a:prstGeom>
          <a:noFill/>
        </p:spPr>
        <p:txBody>
          <a:bodyPr wrap="square">
            <a:spAutoFit/>
          </a:bodyPr>
          <a:lstStyle/>
          <a:p>
            <a:pPr algn="ctr"/>
            <a:r>
              <a:rPr sz="950" b="0" i="1">
                <a:solidFill>
                  <a:srgbClr val="FFFFFF"/>
                </a:solidFill>
              </a:rPr>
              <a:t>Autolaunched Flows
as callable tools</a:t>
            </a:r>
          </a:p>
        </p:txBody>
      </p:sp>
      <p:sp>
        <p:nvSpPr>
          <p:cNvPr id="17" name="Oval 16"/>
          <p:cNvSpPr/>
          <p:nvPr/>
        </p:nvSpPr>
        <p:spPr>
          <a:xfrm>
            <a:off x="320040" y="3127248"/>
            <a:ext cx="438912" cy="438912"/>
          </a:xfrm>
          <a:prstGeom prst="ellipse">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a:t>
            </a:r>
          </a:p>
        </p:txBody>
      </p:sp>
      <p:sp>
        <p:nvSpPr>
          <p:cNvPr id="18" name="TextBox 17"/>
          <p:cNvSpPr txBox="1"/>
          <p:nvPr/>
        </p:nvSpPr>
        <p:spPr>
          <a:xfrm>
            <a:off x="320040" y="3657600"/>
            <a:ext cx="2697480" cy="384048"/>
          </a:xfrm>
          <a:prstGeom prst="rect">
            <a:avLst/>
          </a:prstGeom>
          <a:noFill/>
        </p:spPr>
        <p:txBody>
          <a:bodyPr wrap="square">
            <a:spAutoFit/>
          </a:bodyPr>
          <a:lstStyle/>
          <a:p>
            <a:pPr algn="ctr"/>
            <a:r>
              <a:rPr sz="1100" b="1" i="0">
                <a:solidFill>
                  <a:srgbClr val="0176D3"/>
                </a:solidFill>
              </a:rPr>
              <a:t>Build Apex / Flow</a:t>
            </a:r>
          </a:p>
        </p:txBody>
      </p:sp>
      <p:sp>
        <p:nvSpPr>
          <p:cNvPr id="19" name="TextBox 18"/>
          <p:cNvSpPr txBox="1"/>
          <p:nvPr/>
        </p:nvSpPr>
        <p:spPr>
          <a:xfrm>
            <a:off x="320040" y="4096512"/>
            <a:ext cx="2697480" cy="1417320"/>
          </a:xfrm>
          <a:prstGeom prst="rect">
            <a:avLst/>
          </a:prstGeom>
          <a:noFill/>
        </p:spPr>
        <p:txBody>
          <a:bodyPr wrap="square">
            <a:spAutoFit/>
          </a:bodyPr>
          <a:lstStyle/>
          <a:p>
            <a:pPr algn="ctr"/>
            <a:r>
              <a:rPr sz="950" b="0" i="0">
                <a:solidFill>
                  <a:srgbClr val="555555"/>
                </a:solidFill>
              </a:rPr>
              <a:t>Write your business logic in Apex or create a Flow. Example: A method that queries Opportunity + Contact to return a deal summary.</a:t>
            </a:r>
          </a:p>
        </p:txBody>
      </p:sp>
      <p:sp>
        <p:nvSpPr>
          <p:cNvPr id="20" name="Oval 19"/>
          <p:cNvSpPr/>
          <p:nvPr/>
        </p:nvSpPr>
        <p:spPr>
          <a:xfrm>
            <a:off x="3227832" y="3127248"/>
            <a:ext cx="438912" cy="438912"/>
          </a:xfrm>
          <a:prstGeom prst="ellipse">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a:t>
            </a:r>
          </a:p>
        </p:txBody>
      </p:sp>
      <p:sp>
        <p:nvSpPr>
          <p:cNvPr id="21" name="TextBox 20"/>
          <p:cNvSpPr txBox="1"/>
          <p:nvPr/>
        </p:nvSpPr>
        <p:spPr>
          <a:xfrm>
            <a:off x="3227832" y="3657600"/>
            <a:ext cx="2697480" cy="384048"/>
          </a:xfrm>
          <a:prstGeom prst="rect">
            <a:avLst/>
          </a:prstGeom>
          <a:noFill/>
        </p:spPr>
        <p:txBody>
          <a:bodyPr wrap="square">
            <a:spAutoFit/>
          </a:bodyPr>
          <a:lstStyle/>
          <a:p>
            <a:pPr algn="ctr"/>
            <a:r>
              <a:rPr sz="1100" b="1" i="0">
                <a:solidFill>
                  <a:srgbClr val="06A59A"/>
                </a:solidFill>
              </a:rPr>
              <a:t>Create Custom MCP Server</a:t>
            </a:r>
          </a:p>
        </p:txBody>
      </p:sp>
      <p:sp>
        <p:nvSpPr>
          <p:cNvPr id="22" name="TextBox 21"/>
          <p:cNvSpPr txBox="1"/>
          <p:nvPr/>
        </p:nvSpPr>
        <p:spPr>
          <a:xfrm>
            <a:off x="3227832" y="4096512"/>
            <a:ext cx="2697480" cy="1417320"/>
          </a:xfrm>
          <a:prstGeom prst="rect">
            <a:avLst/>
          </a:prstGeom>
          <a:noFill/>
        </p:spPr>
        <p:txBody>
          <a:bodyPr wrap="square">
            <a:spAutoFit/>
          </a:bodyPr>
          <a:lstStyle/>
          <a:p>
            <a:pPr algn="ctr"/>
            <a:r>
              <a:rPr sz="950" b="0" i="0">
                <a:solidFill>
                  <a:srgbClr val="555555"/>
                </a:solidFill>
              </a:rPr>
              <a:t>Setup &gt; Quick Find &gt; MCP Server &gt; Add Server. Give it a name and a clear description (the AI reads this!).</a:t>
            </a:r>
          </a:p>
        </p:txBody>
      </p:sp>
      <p:sp>
        <p:nvSpPr>
          <p:cNvPr id="23" name="Oval 22"/>
          <p:cNvSpPr/>
          <p:nvPr/>
        </p:nvSpPr>
        <p:spPr>
          <a:xfrm>
            <a:off x="6135624" y="3127248"/>
            <a:ext cx="438912" cy="438912"/>
          </a:xfrm>
          <a:prstGeom prst="ellipse">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3</a:t>
            </a:r>
          </a:p>
        </p:txBody>
      </p:sp>
      <p:sp>
        <p:nvSpPr>
          <p:cNvPr id="24" name="TextBox 23"/>
          <p:cNvSpPr txBox="1"/>
          <p:nvPr/>
        </p:nvSpPr>
        <p:spPr>
          <a:xfrm>
            <a:off x="6135624" y="3657600"/>
            <a:ext cx="2697480" cy="384048"/>
          </a:xfrm>
          <a:prstGeom prst="rect">
            <a:avLst/>
          </a:prstGeom>
          <a:noFill/>
        </p:spPr>
        <p:txBody>
          <a:bodyPr wrap="square">
            <a:spAutoFit/>
          </a:bodyPr>
          <a:lstStyle/>
          <a:p>
            <a:pPr algn="ctr"/>
            <a:r>
              <a:rPr sz="1100" b="1" i="0">
                <a:solidFill>
                  <a:srgbClr val="9050E9"/>
                </a:solidFill>
              </a:rPr>
              <a:t>Add Your Apex Class as a Tool</a:t>
            </a:r>
          </a:p>
        </p:txBody>
      </p:sp>
      <p:sp>
        <p:nvSpPr>
          <p:cNvPr id="25" name="TextBox 24"/>
          <p:cNvSpPr txBox="1"/>
          <p:nvPr/>
        </p:nvSpPr>
        <p:spPr>
          <a:xfrm>
            <a:off x="6135624" y="4096512"/>
            <a:ext cx="2697480" cy="1417320"/>
          </a:xfrm>
          <a:prstGeom prst="rect">
            <a:avLst/>
          </a:prstGeom>
          <a:noFill/>
        </p:spPr>
        <p:txBody>
          <a:bodyPr wrap="square">
            <a:spAutoFit/>
          </a:bodyPr>
          <a:lstStyle/>
          <a:p>
            <a:pPr algn="ctr"/>
            <a:r>
              <a:rPr sz="950" b="0" i="0">
                <a:solidFill>
                  <a:srgbClr val="555555"/>
                </a:solidFill>
              </a:rPr>
              <a:t>Inside the new server, click Add Asset &gt; Apex Class. Select the class. You can add multiple assets/tools.</a:t>
            </a:r>
          </a:p>
        </p:txBody>
      </p:sp>
      <p:sp>
        <p:nvSpPr>
          <p:cNvPr id="26" name="Oval 25"/>
          <p:cNvSpPr/>
          <p:nvPr/>
        </p:nvSpPr>
        <p:spPr>
          <a:xfrm>
            <a:off x="9043416" y="3127248"/>
            <a:ext cx="438912" cy="438912"/>
          </a:xfrm>
          <a:prstGeom prst="ellipse">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4</a:t>
            </a:r>
          </a:p>
        </p:txBody>
      </p:sp>
      <p:sp>
        <p:nvSpPr>
          <p:cNvPr id="27" name="TextBox 26"/>
          <p:cNvSpPr txBox="1"/>
          <p:nvPr/>
        </p:nvSpPr>
        <p:spPr>
          <a:xfrm>
            <a:off x="9043416" y="3657600"/>
            <a:ext cx="2697480" cy="384048"/>
          </a:xfrm>
          <a:prstGeom prst="rect">
            <a:avLst/>
          </a:prstGeom>
          <a:noFill/>
        </p:spPr>
        <p:txBody>
          <a:bodyPr wrap="square">
            <a:spAutoFit/>
          </a:bodyPr>
          <a:lstStyle/>
          <a:p>
            <a:pPr algn="ctr"/>
            <a:r>
              <a:rPr sz="1100" b="1" i="0">
                <a:solidFill>
                  <a:srgbClr val="2E844A"/>
                </a:solidFill>
              </a:rPr>
              <a:t>Copy Endpoint URL &amp; Connect</a:t>
            </a:r>
          </a:p>
        </p:txBody>
      </p:sp>
      <p:sp>
        <p:nvSpPr>
          <p:cNvPr id="28" name="TextBox 27"/>
          <p:cNvSpPr txBox="1"/>
          <p:nvPr/>
        </p:nvSpPr>
        <p:spPr>
          <a:xfrm>
            <a:off x="9043416" y="4096512"/>
            <a:ext cx="2697480" cy="1417320"/>
          </a:xfrm>
          <a:prstGeom prst="rect">
            <a:avLst/>
          </a:prstGeom>
          <a:noFill/>
        </p:spPr>
        <p:txBody>
          <a:bodyPr wrap="square">
            <a:spAutoFit/>
          </a:bodyPr>
          <a:lstStyle/>
          <a:p>
            <a:pPr algn="ctr"/>
            <a:r>
              <a:rPr sz="950" b="0" i="0">
                <a:solidFill>
                  <a:srgbClr val="555555"/>
                </a:solidFill>
              </a:rPr>
              <a:t>Your server gets a unique Endpoint URL. Use this URL (+ your Consumer Key) to connect Claude — same as the built-in server.</a:t>
            </a:r>
          </a:p>
        </p:txBody>
      </p:sp>
      <p:sp>
        <p:nvSpPr>
          <p:cNvPr id="29" name="Rounded Rectangle 28"/>
          <p:cNvSpPr/>
          <p:nvPr/>
        </p:nvSpPr>
        <p:spPr>
          <a:xfrm>
            <a:off x="457200" y="5760720"/>
            <a:ext cx="11274552" cy="749808"/>
          </a:xfrm>
          <a:prstGeom prst="roundRect">
            <a:avLst/>
          </a:prstGeom>
          <a:solidFill>
            <a:srgbClr val="FFF3CD"/>
          </a:solidFill>
          <a:ln w="12700">
            <a:solidFill>
              <a:srgbClr val="FE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824728"/>
            <a:ext cx="11064240" cy="713232"/>
          </a:xfrm>
          <a:prstGeom prst="rect">
            <a:avLst/>
          </a:prstGeom>
          <a:noFill/>
        </p:spPr>
        <p:txBody>
          <a:bodyPr wrap="square">
            <a:spAutoFit/>
          </a:bodyPr>
          <a:lstStyle/>
          <a:p>
            <a:pPr>
              <a:spcBef>
                <a:spcPts val="400"/>
              </a:spcBef>
            </a:pPr>
            <a:r>
              <a:rPr sz="1200" b="1">
                <a:solidFill>
                  <a:srgbClr val="7B4F00"/>
                </a:solidFill>
              </a:rPr>
              <a:t>Best Practice:</a:t>
            </a:r>
          </a:p>
          <a:p>
            <a:pPr>
              <a:spcBef>
                <a:spcPts val="400"/>
              </a:spcBef>
            </a:pPr>
            <a:r>
              <a:rPr sz="1050" b="0">
                <a:solidFill>
                  <a:srgbClr val="7B4F00"/>
                </a:solidFill>
              </a:rPr>
              <a:t>  Write a detailed description for both the MCP Server AND each individual Tool. The AI uses these descriptions to decide what to call. Vague description = wrong tool called.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Demo: Connecting Claude to Salesforce via MCP</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Step-by-step setup completed in this module</a:t>
            </a:r>
          </a:p>
        </p:txBody>
      </p:sp>
      <p:sp>
        <p:nvSpPr>
          <p:cNvPr id="4" name="Rounded Rectangle 3"/>
          <p:cNvSpPr/>
          <p:nvPr/>
        </p:nvSpPr>
        <p:spPr>
          <a:xfrm>
            <a:off x="320040" y="1508760"/>
            <a:ext cx="2103120" cy="192024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4712" y="157276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1</a:t>
            </a:r>
          </a:p>
        </p:txBody>
      </p:sp>
      <p:sp>
        <p:nvSpPr>
          <p:cNvPr id="6" name="TextBox 5"/>
          <p:cNvSpPr txBox="1"/>
          <p:nvPr/>
        </p:nvSpPr>
        <p:spPr>
          <a:xfrm>
            <a:off x="411479" y="2130552"/>
            <a:ext cx="1920240" cy="594360"/>
          </a:xfrm>
          <a:prstGeom prst="rect">
            <a:avLst/>
          </a:prstGeom>
          <a:noFill/>
        </p:spPr>
        <p:txBody>
          <a:bodyPr wrap="square">
            <a:spAutoFit/>
          </a:bodyPr>
          <a:lstStyle/>
          <a:p>
            <a:pPr algn="ctr"/>
            <a:r>
              <a:rPr sz="1200" b="1" i="0">
                <a:solidFill>
                  <a:srgbClr val="FFFFFF"/>
                </a:solidFill>
              </a:rPr>
              <a:t>Enable MCP Server</a:t>
            </a:r>
          </a:p>
        </p:txBody>
      </p:sp>
      <p:sp>
        <p:nvSpPr>
          <p:cNvPr id="7" name="TextBox 6"/>
          <p:cNvSpPr txBox="1"/>
          <p:nvPr/>
        </p:nvSpPr>
        <p:spPr>
          <a:xfrm>
            <a:off x="411479" y="2788920"/>
            <a:ext cx="1920240" cy="594360"/>
          </a:xfrm>
          <a:prstGeom prst="rect">
            <a:avLst/>
          </a:prstGeom>
          <a:noFill/>
        </p:spPr>
        <p:txBody>
          <a:bodyPr wrap="square">
            <a:spAutoFit/>
          </a:bodyPr>
          <a:lstStyle/>
          <a:p>
            <a:pPr algn="ctr"/>
            <a:r>
              <a:rPr sz="950" b="0" i="1">
                <a:solidFill>
                  <a:srgbClr val="CCEEFF"/>
                </a:solidFill>
              </a:rPr>
              <a:t>Setup &gt; MCP Servers
(API Catalog)
Enable SObject Reads</a:t>
            </a:r>
          </a:p>
        </p:txBody>
      </p:sp>
      <p:sp>
        <p:nvSpPr>
          <p:cNvPr id="8" name="Can 7"/>
          <p:cNvSpPr/>
          <p:nvPr/>
        </p:nvSpPr>
        <p:spPr>
          <a:xfrm>
            <a:off x="2441448" y="2331720"/>
            <a:ext cx="182880" cy="274320"/>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42616" y="1508760"/>
            <a:ext cx="2103120" cy="192024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47288" y="157276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2</a:t>
            </a:r>
          </a:p>
        </p:txBody>
      </p:sp>
      <p:sp>
        <p:nvSpPr>
          <p:cNvPr id="11" name="TextBox 10"/>
          <p:cNvSpPr txBox="1"/>
          <p:nvPr/>
        </p:nvSpPr>
        <p:spPr>
          <a:xfrm>
            <a:off x="2734056" y="2130552"/>
            <a:ext cx="1920240" cy="594360"/>
          </a:xfrm>
          <a:prstGeom prst="rect">
            <a:avLst/>
          </a:prstGeom>
          <a:noFill/>
        </p:spPr>
        <p:txBody>
          <a:bodyPr wrap="square">
            <a:spAutoFit/>
          </a:bodyPr>
          <a:lstStyle/>
          <a:p>
            <a:pPr algn="ctr"/>
            <a:r>
              <a:rPr sz="1200" b="1" i="0">
                <a:solidFill>
                  <a:srgbClr val="FFFFFF"/>
                </a:solidFill>
              </a:rPr>
              <a:t>Create External
Client App</a:t>
            </a:r>
          </a:p>
        </p:txBody>
      </p:sp>
      <p:sp>
        <p:nvSpPr>
          <p:cNvPr id="12" name="TextBox 11"/>
          <p:cNvSpPr txBox="1"/>
          <p:nvPr/>
        </p:nvSpPr>
        <p:spPr>
          <a:xfrm>
            <a:off x="2734056" y="2788920"/>
            <a:ext cx="1920240" cy="594360"/>
          </a:xfrm>
          <a:prstGeom prst="rect">
            <a:avLst/>
          </a:prstGeom>
          <a:noFill/>
        </p:spPr>
        <p:txBody>
          <a:bodyPr wrap="square">
            <a:spAutoFit/>
          </a:bodyPr>
          <a:lstStyle/>
          <a:p>
            <a:pPr algn="ctr"/>
            <a:r>
              <a:rPr sz="950" b="0" i="1">
                <a:solidFill>
                  <a:srgbClr val="CCEEFF"/>
                </a:solidFill>
              </a:rPr>
              <a:t>OAuth + PKCE
mcp_api scope</a:t>
            </a:r>
          </a:p>
        </p:txBody>
      </p:sp>
      <p:sp>
        <p:nvSpPr>
          <p:cNvPr id="13" name="Can 12"/>
          <p:cNvSpPr/>
          <p:nvPr/>
        </p:nvSpPr>
        <p:spPr>
          <a:xfrm>
            <a:off x="4764024" y="2331720"/>
            <a:ext cx="182880" cy="274320"/>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65192" y="1508760"/>
            <a:ext cx="2103120" cy="192024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9864" y="157276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3</a:t>
            </a:r>
          </a:p>
        </p:txBody>
      </p:sp>
      <p:sp>
        <p:nvSpPr>
          <p:cNvPr id="16" name="TextBox 15"/>
          <p:cNvSpPr txBox="1"/>
          <p:nvPr/>
        </p:nvSpPr>
        <p:spPr>
          <a:xfrm>
            <a:off x="5056631" y="2130552"/>
            <a:ext cx="1920240" cy="594360"/>
          </a:xfrm>
          <a:prstGeom prst="rect">
            <a:avLst/>
          </a:prstGeom>
          <a:noFill/>
        </p:spPr>
        <p:txBody>
          <a:bodyPr wrap="square">
            <a:spAutoFit/>
          </a:bodyPr>
          <a:lstStyle/>
          <a:p>
            <a:pPr algn="ctr"/>
            <a:r>
              <a:rPr sz="1200" b="1" i="0">
                <a:solidFill>
                  <a:srgbClr val="FFFFFF"/>
                </a:solidFill>
              </a:rPr>
              <a:t>Copy Consumer
Key (Client ID)</a:t>
            </a:r>
          </a:p>
        </p:txBody>
      </p:sp>
      <p:sp>
        <p:nvSpPr>
          <p:cNvPr id="17" name="TextBox 16"/>
          <p:cNvSpPr txBox="1"/>
          <p:nvPr/>
        </p:nvSpPr>
        <p:spPr>
          <a:xfrm>
            <a:off x="5056631" y="2788920"/>
            <a:ext cx="1920240" cy="594360"/>
          </a:xfrm>
          <a:prstGeom prst="rect">
            <a:avLst/>
          </a:prstGeom>
          <a:noFill/>
        </p:spPr>
        <p:txBody>
          <a:bodyPr wrap="square">
            <a:spAutoFit/>
          </a:bodyPr>
          <a:lstStyle/>
          <a:p>
            <a:pPr algn="ctr"/>
            <a:r>
              <a:rPr sz="950" b="0" i="1">
                <a:solidFill>
                  <a:srgbClr val="CCEEFF"/>
                </a:solidFill>
              </a:rPr>
              <a:t>Settings &gt;
Consumer Key &amp; Secret</a:t>
            </a:r>
          </a:p>
        </p:txBody>
      </p:sp>
      <p:sp>
        <p:nvSpPr>
          <p:cNvPr id="18" name="Can 17"/>
          <p:cNvSpPr/>
          <p:nvPr/>
        </p:nvSpPr>
        <p:spPr>
          <a:xfrm>
            <a:off x="7086600" y="2331720"/>
            <a:ext cx="182880" cy="274320"/>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87768" y="1508760"/>
            <a:ext cx="2103120" cy="192024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92440" y="157276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4</a:t>
            </a:r>
          </a:p>
        </p:txBody>
      </p:sp>
      <p:sp>
        <p:nvSpPr>
          <p:cNvPr id="21" name="TextBox 20"/>
          <p:cNvSpPr txBox="1"/>
          <p:nvPr/>
        </p:nvSpPr>
        <p:spPr>
          <a:xfrm>
            <a:off x="7379208" y="2130552"/>
            <a:ext cx="1920240" cy="594360"/>
          </a:xfrm>
          <a:prstGeom prst="rect">
            <a:avLst/>
          </a:prstGeom>
          <a:noFill/>
        </p:spPr>
        <p:txBody>
          <a:bodyPr wrap="square">
            <a:spAutoFit/>
          </a:bodyPr>
          <a:lstStyle/>
          <a:p>
            <a:pPr algn="ctr"/>
            <a:r>
              <a:rPr sz="1200" b="1" i="0">
                <a:solidFill>
                  <a:srgbClr val="FFFFFF"/>
                </a:solidFill>
              </a:rPr>
              <a:t>Connect Claude
to MCP</a:t>
            </a:r>
          </a:p>
        </p:txBody>
      </p:sp>
      <p:sp>
        <p:nvSpPr>
          <p:cNvPr id="22" name="TextBox 21"/>
          <p:cNvSpPr txBox="1"/>
          <p:nvPr/>
        </p:nvSpPr>
        <p:spPr>
          <a:xfrm>
            <a:off x="7379208" y="2788920"/>
            <a:ext cx="1920240" cy="594360"/>
          </a:xfrm>
          <a:prstGeom prst="rect">
            <a:avLst/>
          </a:prstGeom>
          <a:noFill/>
        </p:spPr>
        <p:txBody>
          <a:bodyPr wrap="square">
            <a:spAutoFit/>
          </a:bodyPr>
          <a:lstStyle/>
          <a:p>
            <a:pPr algn="ctr"/>
            <a:r>
              <a:rPr sz="950" b="0" i="1">
                <a:solidFill>
                  <a:srgbClr val="CCEEFF"/>
                </a:solidFill>
              </a:rPr>
              <a:t>Paste Server URL
+ Client ID in Claude</a:t>
            </a:r>
          </a:p>
        </p:txBody>
      </p:sp>
      <p:sp>
        <p:nvSpPr>
          <p:cNvPr id="23" name="Can 22"/>
          <p:cNvSpPr/>
          <p:nvPr/>
        </p:nvSpPr>
        <p:spPr>
          <a:xfrm>
            <a:off x="9409176" y="2331720"/>
            <a:ext cx="182880" cy="274320"/>
          </a:xfrm>
          <a:prstGeom prst="can">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10344" y="1508760"/>
            <a:ext cx="2103120" cy="1920240"/>
          </a:xfrm>
          <a:prstGeom prst="round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415016" y="157276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5</a:t>
            </a:r>
          </a:p>
        </p:txBody>
      </p:sp>
      <p:sp>
        <p:nvSpPr>
          <p:cNvPr id="26" name="TextBox 25"/>
          <p:cNvSpPr txBox="1"/>
          <p:nvPr/>
        </p:nvSpPr>
        <p:spPr>
          <a:xfrm>
            <a:off x="9701784" y="2130552"/>
            <a:ext cx="1920240" cy="594360"/>
          </a:xfrm>
          <a:prstGeom prst="rect">
            <a:avLst/>
          </a:prstGeom>
          <a:noFill/>
        </p:spPr>
        <p:txBody>
          <a:bodyPr wrap="square">
            <a:spAutoFit/>
          </a:bodyPr>
          <a:lstStyle/>
          <a:p>
            <a:pPr algn="ctr"/>
            <a:r>
              <a:rPr sz="1200" b="1" i="0">
                <a:solidFill>
                  <a:srgbClr val="FFFFFF"/>
                </a:solidFill>
              </a:rPr>
              <a:t>Test It!</a:t>
            </a:r>
          </a:p>
        </p:txBody>
      </p:sp>
      <p:sp>
        <p:nvSpPr>
          <p:cNvPr id="27" name="TextBox 26"/>
          <p:cNvSpPr txBox="1"/>
          <p:nvPr/>
        </p:nvSpPr>
        <p:spPr>
          <a:xfrm>
            <a:off x="9701784" y="2788920"/>
            <a:ext cx="1920240" cy="594360"/>
          </a:xfrm>
          <a:prstGeom prst="rect">
            <a:avLst/>
          </a:prstGeom>
          <a:noFill/>
        </p:spPr>
        <p:txBody>
          <a:bodyPr wrap="square">
            <a:spAutoFit/>
          </a:bodyPr>
          <a:lstStyle/>
          <a:p>
            <a:pPr algn="ctr"/>
            <a:r>
              <a:rPr sz="950" b="0" i="1">
                <a:solidFill>
                  <a:srgbClr val="CCEEFF"/>
                </a:solidFill>
              </a:rPr>
              <a:t>"Give me all accounts
in Salesforce"</a:t>
            </a:r>
          </a:p>
        </p:txBody>
      </p:sp>
      <p:sp>
        <p:nvSpPr>
          <p:cNvPr id="28" name="Rounded Rectangle 27"/>
          <p:cNvSpPr/>
          <p:nvPr/>
        </p:nvSpPr>
        <p:spPr>
          <a:xfrm>
            <a:off x="457200" y="3657600"/>
            <a:ext cx="5394960" cy="2514600"/>
          </a:xfrm>
          <a:prstGeom prst="roundRect">
            <a:avLst/>
          </a:prstGeom>
          <a:solidFill>
            <a:srgbClr val="F0F4FF"/>
          </a:solidFill>
          <a:ln w="15240">
            <a:solidFill>
              <a:srgbClr val="017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730752"/>
            <a:ext cx="5120640" cy="2423160"/>
          </a:xfrm>
          <a:prstGeom prst="rect">
            <a:avLst/>
          </a:prstGeom>
          <a:noFill/>
        </p:spPr>
        <p:txBody>
          <a:bodyPr wrap="square">
            <a:spAutoFit/>
          </a:bodyPr>
          <a:lstStyle/>
          <a:p>
            <a:pPr>
              <a:spcBef>
                <a:spcPts val="400"/>
              </a:spcBef>
            </a:pPr>
            <a:r>
              <a:rPr sz="1200" b="1">
                <a:solidFill>
                  <a:srgbClr val="0176D3"/>
                </a:solidFill>
              </a:rPr>
              <a:t>External Client App — Key Settings</a:t>
            </a:r>
          </a:p>
          <a:p>
            <a:pPr>
              <a:spcBef>
                <a:spcPts val="400"/>
              </a:spcBef>
            </a:pPr>
            <a:r>
              <a:rPr sz="1100" b="0">
                <a:solidFill>
                  <a:srgbClr val="555555"/>
                </a:solidFill>
              </a:rPr>
              <a:t>  OAuth Scopes:  mcp_api  +  refresh_token</a:t>
            </a:r>
          </a:p>
          <a:p>
            <a:pPr>
              <a:spcBef>
                <a:spcPts val="400"/>
              </a:spcBef>
            </a:pPr>
            <a:r>
              <a:rPr sz="1100" b="0">
                <a:solidFill>
                  <a:srgbClr val="555555"/>
                </a:solidFill>
              </a:rPr>
              <a:t>  Callback URL (Claude):  https://claude.ai/api/mcp/auth_callback</a:t>
            </a:r>
          </a:p>
          <a:p>
            <a:pPr>
              <a:spcBef>
                <a:spcPts val="400"/>
              </a:spcBef>
            </a:pPr>
            <a:r>
              <a:rPr sz="1000" b="1">
                <a:solidFill>
                  <a:srgbClr val="555555"/>
                </a:solidFill>
              </a:rPr>
              <a:t>  Note: Each AI client has its own callback URL</a:t>
            </a:r>
          </a:p>
          <a:p>
            <a:pPr>
              <a:spcBef>
                <a:spcPts val="400"/>
              </a:spcBef>
            </a:pPr>
            <a:r>
              <a:rPr sz="1100" b="0">
                <a:solidFill>
                  <a:srgbClr val="555555"/>
                </a:solidFill>
              </a:rPr>
              <a:t>  Enable PKCE — required for MCP</a:t>
            </a:r>
          </a:p>
          <a:p>
            <a:pPr>
              <a:spcBef>
                <a:spcPts val="400"/>
              </a:spcBef>
            </a:pPr>
            <a:r>
              <a:rPr sz="1100" b="1">
                <a:solidFill>
                  <a:srgbClr val="032D60"/>
                </a:solidFill>
              </a:rPr>
              <a:t>  Copy the Consumer Key (= your Client ID)</a:t>
            </a:r>
          </a:p>
          <a:p>
            <a:pPr>
              <a:spcBef>
                <a:spcPts val="400"/>
              </a:spcBef>
            </a:pPr>
            <a:r>
              <a:rPr sz="1000" b="1">
                <a:solidFill>
                  <a:srgbClr val="CC3300"/>
                </a:solidFill>
              </a:rPr>
              <a:t>  App takes up to 30 min to activate after save</a:t>
            </a:r>
          </a:p>
        </p:txBody>
      </p:sp>
      <p:sp>
        <p:nvSpPr>
          <p:cNvPr id="30" name="Rounded Rectangle 29"/>
          <p:cNvSpPr/>
          <p:nvPr/>
        </p:nvSpPr>
        <p:spPr>
          <a:xfrm>
            <a:off x="6035040" y="3657600"/>
            <a:ext cx="5696712" cy="2514600"/>
          </a:xfrm>
          <a:prstGeom prst="roundRect">
            <a:avLst/>
          </a:prstGeom>
          <a:solidFill>
            <a:srgbClr val="D4EDDA"/>
          </a:solidFill>
          <a:ln w="19050">
            <a:solidFill>
              <a:srgbClr val="2E84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99632" y="3730752"/>
            <a:ext cx="5440680" cy="2423160"/>
          </a:xfrm>
          <a:prstGeom prst="rect">
            <a:avLst/>
          </a:prstGeom>
          <a:noFill/>
        </p:spPr>
        <p:txBody>
          <a:bodyPr wrap="square">
            <a:spAutoFit/>
          </a:bodyPr>
          <a:lstStyle/>
          <a:p>
            <a:pPr>
              <a:spcBef>
                <a:spcPts val="400"/>
              </a:spcBef>
            </a:pPr>
            <a:r>
              <a:rPr sz="1200" b="1">
                <a:solidFill>
                  <a:srgbClr val="1A5C2E"/>
                </a:solidFill>
              </a:rPr>
              <a:t>Result — What You Can Now Do</a:t>
            </a:r>
          </a:p>
          <a:p>
            <a:pPr>
              <a:spcBef>
                <a:spcPts val="400"/>
              </a:spcBef>
            </a:pPr>
            <a:r>
              <a:rPr sz="1100" b="0">
                <a:solidFill>
                  <a:srgbClr val="555555"/>
                </a:solidFill>
              </a:rPr>
              <a:t>  Ask Claude: "Get all my open Cases"</a:t>
            </a:r>
          </a:p>
          <a:p>
            <a:pPr>
              <a:spcBef>
                <a:spcPts val="400"/>
              </a:spcBef>
            </a:pPr>
            <a:r>
              <a:rPr sz="1100" b="0">
                <a:solidFill>
                  <a:srgbClr val="555555"/>
                </a:solidFill>
              </a:rPr>
              <a:t>  Ask Claude: "Find Account called Acme"</a:t>
            </a:r>
          </a:p>
          <a:p>
            <a:pPr>
              <a:spcBef>
                <a:spcPts val="400"/>
              </a:spcBef>
            </a:pPr>
            <a:r>
              <a:rPr sz="1100" b="0">
                <a:solidFill>
                  <a:srgbClr val="555555"/>
                </a:solidFill>
              </a:rPr>
              <a:t>  Ask Claude: "List my Opportunities this quarter"</a:t>
            </a:r>
          </a:p>
          <a:p>
            <a:pPr>
              <a:spcBef>
                <a:spcPts val="400"/>
              </a:spcBef>
            </a:pPr>
            <a:r>
              <a:rPr sz="1100" b="1">
                <a:solidFill>
                  <a:srgbClr val="1A5C2E"/>
                </a:solidFill>
              </a:rPr>
              <a:t>  No browser. No navigation. Just conversation.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Summary — What We Learned in Module 1</a:t>
            </a:r>
          </a:p>
        </p:txBody>
      </p:sp>
      <p:sp>
        <p:nvSpPr>
          <p:cNvPr id="3" name="TextBox 2"/>
          <p:cNvSpPr txBox="1"/>
          <p:nvPr/>
        </p:nvSpPr>
        <p:spPr>
          <a:xfrm>
            <a:off x="320040" y="1051560"/>
            <a:ext cx="11430000" cy="411480"/>
          </a:xfrm>
          <a:prstGeom prst="rect">
            <a:avLst/>
          </a:prstGeom>
          <a:noFill/>
        </p:spPr>
        <p:txBody>
          <a:bodyPr wrap="square">
            <a:spAutoFit/>
          </a:bodyPr>
          <a:lstStyle/>
          <a:p>
            <a:pPr algn="l"/>
            <a:r>
              <a:rPr sz="1200" b="0" i="1">
                <a:solidFill>
                  <a:srgbClr val="0176D3"/>
                </a:solidFill>
              </a:rPr>
              <a:t>Key concepts and terms from this session</a:t>
            </a:r>
          </a:p>
        </p:txBody>
      </p:sp>
      <p:sp>
        <p:nvSpPr>
          <p:cNvPr id="4" name="Rounded Rectangle 3"/>
          <p:cNvSpPr/>
          <p:nvPr/>
        </p:nvSpPr>
        <p:spPr>
          <a:xfrm>
            <a:off x="365760" y="1481328"/>
            <a:ext cx="3611880" cy="2011680"/>
          </a:xfrm>
          <a:prstGeom prst="round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09344"/>
            <a:ext cx="3337560" cy="438912"/>
          </a:xfrm>
          <a:prstGeom prst="rect">
            <a:avLst/>
          </a:prstGeom>
          <a:noFill/>
        </p:spPr>
        <p:txBody>
          <a:bodyPr wrap="square">
            <a:spAutoFit/>
          </a:bodyPr>
          <a:lstStyle/>
          <a:p>
            <a:pPr algn="ctr"/>
            <a:r>
              <a:rPr sz="1300" b="1" i="0">
                <a:solidFill>
                  <a:srgbClr val="FFFFFF"/>
                </a:solidFill>
              </a:rPr>
              <a:t>Headless 360</a:t>
            </a:r>
          </a:p>
        </p:txBody>
      </p:sp>
      <p:sp>
        <p:nvSpPr>
          <p:cNvPr id="6" name="TextBox 5"/>
          <p:cNvSpPr txBox="1"/>
          <p:nvPr/>
        </p:nvSpPr>
        <p:spPr>
          <a:xfrm>
            <a:off x="502920" y="2121408"/>
            <a:ext cx="3337560" cy="1280160"/>
          </a:xfrm>
          <a:prstGeom prst="rect">
            <a:avLst/>
          </a:prstGeom>
          <a:noFill/>
        </p:spPr>
        <p:txBody>
          <a:bodyPr wrap="square">
            <a:spAutoFit/>
          </a:bodyPr>
          <a:lstStyle/>
          <a:p>
            <a:pPr algn="ctr"/>
            <a:r>
              <a:rPr sz="1050" b="0" i="0">
                <a:solidFill>
                  <a:srgbClr val="FFFFFF"/>
                </a:solidFill>
              </a:rPr>
              <a:t>AI agent replaces the browser as your Salesforce interface</a:t>
            </a:r>
          </a:p>
        </p:txBody>
      </p:sp>
      <p:sp>
        <p:nvSpPr>
          <p:cNvPr id="7" name="Rounded Rectangle 6"/>
          <p:cNvSpPr/>
          <p:nvPr/>
        </p:nvSpPr>
        <p:spPr>
          <a:xfrm>
            <a:off x="4224528" y="1481328"/>
            <a:ext cx="3611880" cy="2011680"/>
          </a:xfrm>
          <a:prstGeom prst="roundRect">
            <a:avLst/>
          </a:prstGeom>
          <a:solidFill>
            <a:srgbClr val="017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61688" y="1609344"/>
            <a:ext cx="3337560" cy="438912"/>
          </a:xfrm>
          <a:prstGeom prst="rect">
            <a:avLst/>
          </a:prstGeom>
          <a:noFill/>
        </p:spPr>
        <p:txBody>
          <a:bodyPr wrap="square">
            <a:spAutoFit/>
          </a:bodyPr>
          <a:lstStyle/>
          <a:p>
            <a:pPr algn="ctr"/>
            <a:r>
              <a:rPr sz="1300" b="1" i="0">
                <a:solidFill>
                  <a:srgbClr val="FFFFFF"/>
                </a:solidFill>
              </a:rPr>
              <a:t>MCP</a:t>
            </a:r>
          </a:p>
        </p:txBody>
      </p:sp>
      <p:sp>
        <p:nvSpPr>
          <p:cNvPr id="9" name="TextBox 8"/>
          <p:cNvSpPr txBox="1"/>
          <p:nvPr/>
        </p:nvSpPr>
        <p:spPr>
          <a:xfrm>
            <a:off x="4361688" y="2121408"/>
            <a:ext cx="3337560" cy="1280160"/>
          </a:xfrm>
          <a:prstGeom prst="rect">
            <a:avLst/>
          </a:prstGeom>
          <a:noFill/>
        </p:spPr>
        <p:txBody>
          <a:bodyPr wrap="square">
            <a:spAutoFit/>
          </a:bodyPr>
          <a:lstStyle/>
          <a:p>
            <a:pPr algn="ctr"/>
            <a:r>
              <a:rPr sz="1050" b="0" i="0">
                <a:solidFill>
                  <a:srgbClr val="FFFFFF"/>
                </a:solidFill>
              </a:rPr>
              <a:t>Model Context Protocol by Anthropic — standard for AI-to-system communication</a:t>
            </a:r>
          </a:p>
        </p:txBody>
      </p:sp>
      <p:sp>
        <p:nvSpPr>
          <p:cNvPr id="10" name="Rounded Rectangle 9"/>
          <p:cNvSpPr/>
          <p:nvPr/>
        </p:nvSpPr>
        <p:spPr>
          <a:xfrm>
            <a:off x="8083296" y="1481328"/>
            <a:ext cx="3611880" cy="201168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456" y="1609344"/>
            <a:ext cx="3337560" cy="438912"/>
          </a:xfrm>
          <a:prstGeom prst="rect">
            <a:avLst/>
          </a:prstGeom>
          <a:noFill/>
        </p:spPr>
        <p:txBody>
          <a:bodyPr wrap="square">
            <a:spAutoFit/>
          </a:bodyPr>
          <a:lstStyle/>
          <a:p>
            <a:pPr algn="ctr"/>
            <a:r>
              <a:rPr sz="1300" b="1" i="0">
                <a:solidFill>
                  <a:srgbClr val="FFFFFF"/>
                </a:solidFill>
              </a:rPr>
              <a:t>MCP Client</a:t>
            </a:r>
          </a:p>
        </p:txBody>
      </p:sp>
      <p:sp>
        <p:nvSpPr>
          <p:cNvPr id="12" name="TextBox 11"/>
          <p:cNvSpPr txBox="1"/>
          <p:nvPr/>
        </p:nvSpPr>
        <p:spPr>
          <a:xfrm>
            <a:off x="8220456" y="2121408"/>
            <a:ext cx="3337560" cy="1280160"/>
          </a:xfrm>
          <a:prstGeom prst="rect">
            <a:avLst/>
          </a:prstGeom>
          <a:noFill/>
        </p:spPr>
        <p:txBody>
          <a:bodyPr wrap="square">
            <a:spAutoFit/>
          </a:bodyPr>
          <a:lstStyle/>
          <a:p>
            <a:pPr algn="ctr"/>
            <a:r>
              <a:rPr sz="1050" b="0" i="0">
                <a:solidFill>
                  <a:srgbClr val="FFFFFF"/>
                </a:solidFill>
              </a:rPr>
              <a:t>The AI tool side (Claude, Cursor) — sends requests</a:t>
            </a:r>
          </a:p>
        </p:txBody>
      </p:sp>
      <p:sp>
        <p:nvSpPr>
          <p:cNvPr id="13" name="Rounded Rectangle 12"/>
          <p:cNvSpPr/>
          <p:nvPr/>
        </p:nvSpPr>
        <p:spPr>
          <a:xfrm>
            <a:off x="365760" y="3767328"/>
            <a:ext cx="3611880" cy="2011680"/>
          </a:xfrm>
          <a:prstGeom prst="roundRect">
            <a:avLst/>
          </a:prstGeom>
          <a:solidFill>
            <a:srgbClr val="905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895344"/>
            <a:ext cx="3337560" cy="438912"/>
          </a:xfrm>
          <a:prstGeom prst="rect">
            <a:avLst/>
          </a:prstGeom>
          <a:noFill/>
        </p:spPr>
        <p:txBody>
          <a:bodyPr wrap="square">
            <a:spAutoFit/>
          </a:bodyPr>
          <a:lstStyle/>
          <a:p>
            <a:pPr algn="ctr"/>
            <a:r>
              <a:rPr sz="1300" b="1" i="0">
                <a:solidFill>
                  <a:srgbClr val="FFFFFF"/>
                </a:solidFill>
              </a:rPr>
              <a:t>MCP Server</a:t>
            </a:r>
          </a:p>
        </p:txBody>
      </p:sp>
      <p:sp>
        <p:nvSpPr>
          <p:cNvPr id="15" name="TextBox 14"/>
          <p:cNvSpPr txBox="1"/>
          <p:nvPr/>
        </p:nvSpPr>
        <p:spPr>
          <a:xfrm>
            <a:off x="502920" y="4407408"/>
            <a:ext cx="3337560" cy="1280160"/>
          </a:xfrm>
          <a:prstGeom prst="rect">
            <a:avLst/>
          </a:prstGeom>
          <a:noFill/>
        </p:spPr>
        <p:txBody>
          <a:bodyPr wrap="square">
            <a:spAutoFit/>
          </a:bodyPr>
          <a:lstStyle/>
          <a:p>
            <a:pPr algn="ctr"/>
            <a:r>
              <a:rPr sz="1050" b="0" i="0">
                <a:solidFill>
                  <a:srgbClr val="FFFFFF"/>
                </a:solidFill>
              </a:rPr>
              <a:t>The system side (Salesforce, GitHub) — hosts the tools</a:t>
            </a:r>
          </a:p>
        </p:txBody>
      </p:sp>
      <p:sp>
        <p:nvSpPr>
          <p:cNvPr id="16" name="Rounded Rectangle 15"/>
          <p:cNvSpPr/>
          <p:nvPr/>
        </p:nvSpPr>
        <p:spPr>
          <a:xfrm>
            <a:off x="4224528" y="3767328"/>
            <a:ext cx="3611880" cy="2011680"/>
          </a:xfrm>
          <a:prstGeom prst="roundRect">
            <a:avLst/>
          </a:prstGeom>
          <a:solidFill>
            <a:srgbClr val="2E8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3895344"/>
            <a:ext cx="3337560" cy="438912"/>
          </a:xfrm>
          <a:prstGeom prst="rect">
            <a:avLst/>
          </a:prstGeom>
          <a:noFill/>
        </p:spPr>
        <p:txBody>
          <a:bodyPr wrap="square">
            <a:spAutoFit/>
          </a:bodyPr>
          <a:lstStyle/>
          <a:p>
            <a:pPr algn="ctr"/>
            <a:r>
              <a:rPr sz="1300" b="1" i="0">
                <a:solidFill>
                  <a:srgbClr val="FFFFFF"/>
                </a:solidFill>
              </a:rPr>
              <a:t>Tools</a:t>
            </a:r>
          </a:p>
        </p:txBody>
      </p:sp>
      <p:sp>
        <p:nvSpPr>
          <p:cNvPr id="18" name="TextBox 17"/>
          <p:cNvSpPr txBox="1"/>
          <p:nvPr/>
        </p:nvSpPr>
        <p:spPr>
          <a:xfrm>
            <a:off x="4361688" y="4407408"/>
            <a:ext cx="3337560" cy="1280160"/>
          </a:xfrm>
          <a:prstGeom prst="rect">
            <a:avLst/>
          </a:prstGeom>
          <a:noFill/>
        </p:spPr>
        <p:txBody>
          <a:bodyPr wrap="square">
            <a:spAutoFit/>
          </a:bodyPr>
          <a:lstStyle/>
          <a:p>
            <a:pPr algn="ctr"/>
            <a:r>
              <a:rPr sz="1050" b="0" i="0">
                <a:solidFill>
                  <a:srgbClr val="FFFFFF"/>
                </a:solidFill>
              </a:rPr>
              <a:t>Individual operations inside an MCP Server (Query, Create, Update...)</a:t>
            </a:r>
          </a:p>
        </p:txBody>
      </p:sp>
      <p:sp>
        <p:nvSpPr>
          <p:cNvPr id="19" name="Rounded Rectangle 18"/>
          <p:cNvSpPr/>
          <p:nvPr/>
        </p:nvSpPr>
        <p:spPr>
          <a:xfrm>
            <a:off x="8083296" y="3767328"/>
            <a:ext cx="3611880" cy="2011680"/>
          </a:xfrm>
          <a:prstGeom prst="roundRect">
            <a:avLst/>
          </a:prstGeom>
          <a:solidFill>
            <a:srgbClr val="FE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0456" y="3895344"/>
            <a:ext cx="3337560" cy="438912"/>
          </a:xfrm>
          <a:prstGeom prst="rect">
            <a:avLst/>
          </a:prstGeom>
          <a:noFill/>
        </p:spPr>
        <p:txBody>
          <a:bodyPr wrap="square">
            <a:spAutoFit/>
          </a:bodyPr>
          <a:lstStyle/>
          <a:p>
            <a:pPr algn="ctr"/>
            <a:r>
              <a:rPr sz="1300" b="1" i="0">
                <a:solidFill>
                  <a:srgbClr val="FFFFFF"/>
                </a:solidFill>
              </a:rPr>
              <a:t>Logical Grouping</a:t>
            </a:r>
          </a:p>
        </p:txBody>
      </p:sp>
      <p:sp>
        <p:nvSpPr>
          <p:cNvPr id="21" name="TextBox 20"/>
          <p:cNvSpPr txBox="1"/>
          <p:nvPr/>
        </p:nvSpPr>
        <p:spPr>
          <a:xfrm>
            <a:off x="8220456" y="4407408"/>
            <a:ext cx="3337560" cy="1280160"/>
          </a:xfrm>
          <a:prstGeom prst="rect">
            <a:avLst/>
          </a:prstGeom>
          <a:noFill/>
        </p:spPr>
        <p:txBody>
          <a:bodyPr wrap="square">
            <a:spAutoFit/>
          </a:bodyPr>
          <a:lstStyle/>
          <a:p>
            <a:pPr algn="ctr"/>
            <a:r>
              <a:rPr sz="1050" b="0" i="0">
                <a:solidFill>
                  <a:srgbClr val="FFFFFF"/>
                </a:solidFill>
              </a:rPr>
              <a:t>Keep related tools together so the AI picks the right one every time</a:t>
            </a:r>
          </a:p>
        </p:txBody>
      </p:sp>
      <p:sp>
        <p:nvSpPr>
          <p:cNvPr id="22" name="Rounded Rectangle 21"/>
          <p:cNvSpPr/>
          <p:nvPr/>
        </p:nvSpPr>
        <p:spPr>
          <a:xfrm>
            <a:off x="365760" y="6172200"/>
            <a:ext cx="11274552" cy="411480"/>
          </a:xfrm>
          <a:prstGeom prst="roundRect">
            <a:avLst/>
          </a:prstGeom>
          <a:solidFill>
            <a:srgbClr val="06A5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Next: Connect Cursor IDE to Salesforce MCP  |  Build a Custom MCP Server with Apex  |  Slack + MCP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