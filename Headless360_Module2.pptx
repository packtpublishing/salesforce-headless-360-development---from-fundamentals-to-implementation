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B442A88C-B6CB-4329-AF62-B197A214B4A4}"/>
    <pc:docChg chg="modSld">
      <pc:chgData name="Sim Aulakh" userId="d6babfaf87fe36d4" providerId="LiveId" clId="{B442A88C-B6CB-4329-AF62-B197A214B4A4}" dt="2026-05-24T13:14:39.149" v="5" actId="20577"/>
      <pc:docMkLst>
        <pc:docMk/>
      </pc:docMkLst>
      <pc:sldChg chg="modSp mod">
        <pc:chgData name="Sim Aulakh" userId="d6babfaf87fe36d4" providerId="LiveId" clId="{B442A88C-B6CB-4329-AF62-B197A214B4A4}" dt="2026-05-24T13:14:39.149" v="5" actId="20577"/>
        <pc:sldMkLst>
          <pc:docMk/>
          <pc:sldMk cId="0" sldId="264"/>
        </pc:sldMkLst>
        <pc:spChg chg="mod">
          <ac:chgData name="Sim Aulakh" userId="d6babfaf87fe36d4" providerId="LiveId" clId="{B442A88C-B6CB-4329-AF62-B197A214B4A4}" dt="2026-05-24T13:14:39.149" v="5" actId="20577"/>
          <ac:spMkLst>
            <pc:docMk/>
            <pc:sldMk cId="0" sldId="264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00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AACCFF"/>
                </a:solidFill>
              </a:rPr>
              <a:t>Headless 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Connecting AI Agents to Salesforce with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CCDDFF"/>
                </a:solidFill>
              </a:rPr>
              <a:t>Custom Apex  •  MCP Servers  •  Claude  • 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88AADD"/>
                </a:solidFill>
              </a:rPr>
              <a:t>mytutorialrack.com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We Will Cover in 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Two parts: Demo + Custom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3949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53949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3D7A"/>
                </a:solidFill>
              </a:rPr>
              <a:t>PART 1 – Live Demo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9339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13055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Add MCP Server in Cursor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60904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Connect to Salesforce via OAuth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91256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Fix callback URL / URI mismatch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2160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See how Cursor stores tool info (JSON files)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Control who can access the MCP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8231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Query MCP metadata with Tooling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3D7A"/>
                </a:solidFill>
              </a:rPr>
              <a:t>PART 2 – Build a Custom Apex MCP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9339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13055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Write Apex class with @InvocableMethod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60904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Deploy MCP Server metadata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91256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Activate the server in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21608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Create External Client App (OAuth)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5196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Connect Claude to your custom MCP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82312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  Test end-to-end with a real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Quick Recap – What is MCP?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Model Context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MCP = Model Context Protocol. It is the language that AI agents speak to talk to external tools like Salesforce.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2514600" cy="1463040"/>
          </a:xfrm>
          <a:prstGeom prst="rect">
            <a:avLst/>
          </a:prstGeom>
          <a:solidFill>
            <a:srgbClr val="00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Agent
(Claude / Cursor)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79"/>
            <a:ext cx="2331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The AI tool that understands your question 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017520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063C5"/>
                </a:solidFill>
              </a:rPr>
              <a:t>  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103120"/>
            <a:ext cx="2514600" cy="1463040"/>
          </a:xfrm>
          <a:prstGeom prst="rect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2212848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MCP Server
(Salesforce Hosted)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97479"/>
            <a:ext cx="2331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The bridge. Receives the AI request and calls the right Salesforce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017520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063C5"/>
                </a:solidFill>
              </a:rPr>
              <a:t>  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514600" cy="146304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59" y="2212848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Apex / SOQL
(Your Business Logic)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697479"/>
            <a:ext cx="2331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Your custom code that fetches data from Salesforce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017520"/>
            <a:ext cx="777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0063C5"/>
                </a:solidFill>
              </a:rPr>
              <a:t>  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103120"/>
            <a:ext cx="2514600" cy="146304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212848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Salesforce
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697479"/>
            <a:ext cx="2331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Your org data — Accounts, Opportunities, Cases, etc.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333333"/>
                </a:solidFill>
              </a:rPr>
              <a:t>When you type 'Get all my deals', the AI figures out which tool to call, builds the right input, and returns the result.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34840"/>
            <a:ext cx="11247120" cy="594360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526279"/>
            <a:ext cx="11018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MCP always runs in the USER's context. The AI can only see what the logged-in user is allowed to see.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3D7A"/>
                </a:solidFill>
              </a:rPr>
              <a:t>In Module 2 we will go beyond the basics and build our OWN custom MCP tool using Apex.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PART 1 – Adding the MCP Server in Cursor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Cursor = AI code editor that can talk to your Salesforce org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1435607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8074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Open Cursor on your computer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2821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Download from cursor.com if you don't have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2316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" y="253288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7802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Open a Salesforce project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2549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File &gt; Open Folder. Pick any Salesforce project folder (or create an empty one)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363016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7530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Click the Gear icon (⚙) at top-right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This opens Cursor Settings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00" y="472744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72583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Click the 'Add MCP' icon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2005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Look for the 'Add an MCP' icon in the right-side panel of Settings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2588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217920" y="1435607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38074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Click 'Add Custom MCP'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172821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 text editor will open. This is where you paste your MCP configuration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423160"/>
            <a:ext cx="5303520" cy="274320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63640" y="2532888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{
  "mcpServers": {
    "salesforce-mcp": {
      "command": "npx",
      "args": ["-y", "@salesforce/mcp-server"],
      "env": {
        "SALESFORCE_LOGIN_URL":
           "https://login.salesforce.com",
        "SALESFORCE_CLIENT_ID":
           "YOUR_CONSUMER_KEY_HERE"
      }
    }
  }
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5257800"/>
            <a:ext cx="5303520" cy="731520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5349240"/>
            <a:ext cx="507492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Replace YOUR_CONSUMER_KEY_HERE with your Consumer Key from the External Client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Connecting Cursor to Salesforce + Fixing Common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7200" y="1435607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8074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Save the JSON file (Ctrl + 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2821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Cursor reads this file to know which MCP server to connect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7200" y="253288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7802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Click 'Connect' in Cursor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2549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You will see your MCP server listed. Click Connect next to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2044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7200" y="363016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75304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Log in to Salesforce in the browser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2277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Enter your username and password. Click Allow to give Cursor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17720"/>
            <a:ext cx="530352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57200" y="472744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72583"/>
            <a:ext cx="4617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Wait for 'Exchanging token' to finish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20056"/>
            <a:ext cx="461772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When you see the connection is Active, Cursor is connected to Salesforce!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325880"/>
            <a:ext cx="53035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14173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56B00"/>
                </a:solidFill>
              </a:rPr>
              <a:t>Common Errors and How to Fix Them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92024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56B00"/>
                </a:solidFill>
              </a:rPr>
              <a:t>URI Mismatch Error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76272"/>
            <a:ext cx="50292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The Cursor callback URL is not added to your External Client App.
Fix: Edit the app and add:
cursor://anysphere.cursor-mcp/oauth/callback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8036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56B00"/>
                </a:solidFill>
              </a:rPr>
              <a:t>Goes to test.salesforce.com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136392"/>
            <a:ext cx="50292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Your MCP JSON has the Sandbox URL.
Fix: Change to https://login.salesforce.com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84048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56B00"/>
                </a:solidFill>
              </a:rPr>
              <a:t>Connection fails after 30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096512"/>
            <a:ext cx="50292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The External Client App may not be active yet.
Fix: Wait up to 30 minutes and try again.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800600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E56B00"/>
                </a:solidFill>
              </a:rPr>
              <a:t>Tools show 0 / empty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056632"/>
            <a:ext cx="50292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The MCP server is not activated in Salesforce Setup.
Fix: Go to Setup &gt; MCP Servers &gt; Activate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Cursor Knows What to Do – Behind the Scenes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Cursor downloads tool definitions and saves them as JSON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When Cursor connects to your MCP server, it downloads a description of every available tool and saves it locally.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" y="207568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2082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Cursor saves tools in the .cursor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6829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Location on Windows:  C:\Users\YourName\.cursor\projects\{your-project}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" y="317296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1810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Each tool gets its own JSON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If you have 6 tools, you will see 6 files. Open any file to understand the structure.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427024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15383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The JSON file has 3 key parts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6285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name: tool code name  |  description: what the tool does  |  inputSchema: what to send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57800"/>
            <a:ext cx="5486400" cy="960120"/>
          </a:xfrm>
          <a:prstGeom prst="rect">
            <a:avLst/>
          </a:prstGeom>
          <a:solidFill>
            <a:srgbClr val="F2F5FA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7200" y="5367528"/>
            <a:ext cx="438912" cy="438912"/>
          </a:xfrm>
          <a:prstGeom prst="ellipse">
            <a:avLst/>
          </a:prstGeom>
          <a:solidFill>
            <a:srgbClr val="007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12664"/>
            <a:ext cx="4800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Cursor reads the description to decide which tool to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60136"/>
            <a:ext cx="480060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When you type 'Get all my deals', Cursor reads the descriptions and picks the right tool automatically.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325880"/>
            <a:ext cx="5669280" cy="393192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1435607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{
  "name": "soql_query",
  "description": "Executes a SOQL query
   against the Salesforce org.
   Example: SELECT Id, Name
   FROM Account LIMIT 10",
  "inputSchema": {
    "type": "object",
    "properties": {
      "query": {
        "type": "string",
        "description": "The SOQL query to run"
      }
    },
    "required": ["query"]
  }
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5394960"/>
            <a:ext cx="5669280" cy="685800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5486400"/>
            <a:ext cx="5440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This is why good descriptions in your @InvocableMethod matter so much! If the description is vague, the AI will not know when to use your tool.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Controlling Access  +  Checking MCP Metadata in Salesforce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7B8A"/>
                </a:solidFill>
              </a:rPr>
              <a:t>Control Who Can Use the MCP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20240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Go to Setup → External Client App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76272"/>
            <a:ext cx="4206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Find your app and click 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24912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24912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Change OAuth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80944"/>
            <a:ext cx="4206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Change from 'All users may self-authorize' to 'Admin approved users are pre-authorized'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2958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29584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Add Profiles or Permission 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85615"/>
            <a:ext cx="4206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Only users with the listed profiles will be allowed to 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34256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34256"/>
            <a:ext cx="4206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Save your 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90288"/>
            <a:ext cx="4206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Now: only approved users can connect. Others will be blocked at authentication.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74920"/>
            <a:ext cx="5486400" cy="822960"/>
          </a:xfrm>
          <a:prstGeom prst="rect">
            <a:avLst/>
          </a:prstGeom>
          <a:solidFill>
            <a:srgbClr val="FFF3CD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166359"/>
            <a:ext cx="5257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7A3B00"/>
                </a:solidFill>
              </a:rPr>
              <a:t>  NOTE:  MCP runs as the USER. Even if someone connects, they can only see their own data. Salesforce security rules always apply.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325880"/>
            <a:ext cx="54864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63C5"/>
                </a:solidFill>
              </a:rPr>
              <a:t>Query MCP Metadata with Tooling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874519"/>
            <a:ext cx="5212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Salesforce stores your MCP server definition in metadata tables. You can query them in Developer Console.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423160"/>
            <a:ext cx="960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7B8A"/>
                </a:solidFill>
              </a:rPr>
              <a:t>Step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423160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Open Developer Console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679191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Setup gear icon → Developer Console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136391"/>
            <a:ext cx="960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7B8A"/>
                </a:solidFill>
              </a:rPr>
              <a:t>Step 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136391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Open Query Editor tab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392424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Bottom panel → Query Editor tab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849624"/>
            <a:ext cx="960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7B8A"/>
                </a:solidFill>
              </a:rPr>
              <a:t>Step 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849624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Enable Tooling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105656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Check the 'Use Tooling API' checkbox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62856"/>
            <a:ext cx="960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7B8A"/>
                </a:solidFill>
              </a:rPr>
              <a:t>Step 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4562856"/>
            <a:ext cx="4114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Run the query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4800600"/>
            <a:ext cx="5303520" cy="96012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29400" y="491032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SELECT Id, DeveloperName,
       MasterLabel
FROM McpServerDefinition
LIMIT 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833872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333333"/>
                </a:solidFill>
              </a:rPr>
              <a:t>This shows all MCP servers registered in your org.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691640"/>
          </a:xfrm>
          <a:prstGeom prst="rect">
            <a:avLst/>
          </a:prstGeom>
          <a:solidFill>
            <a:srgbClr val="00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 i="0">
                <a:solidFill>
                  <a:srgbClr val="AACCFF"/>
                </a:solidFill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Build Your Own Custom Apex MCP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From Salesforce Developer Blog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CCDDFF"/>
                </a:solidFill>
              </a:rPr>
              <a:t>developer.salesforce.com/blogs/2026/05/expose-custom-apex-as-a-hosted-mcp-tool-for-agents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06240"/>
            <a:ext cx="7589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 Step 1 – Write Apex class with @InvocableMethod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626864"/>
            <a:ext cx="7589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 Step 2 – Deploy MCP Server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047488"/>
            <a:ext cx="7589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 Step 3 – Activate the MCP Server in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468112"/>
            <a:ext cx="7589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 Step 4 – Create External Client App (OAuth)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888736"/>
            <a:ext cx="7589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 Step 5 – Connect Claude or Cursor to your tool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Step 1 – Write Your Custom Apex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Use @InvocableMethod so the AI can call your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D7A"/>
                </a:solidFill>
              </a:rPr>
              <a:t>What you need to write: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7B8A"/>
                </a:solidFill>
              </a:rPr>
              <a:t>@InvocableMethod  </a:t>
            </a:r>
            <a:r>
              <a:rPr sz="1100">
                <a:solidFill>
                  <a:srgbClr val="333333"/>
                </a:solidFill>
              </a:rPr>
              <a:t>Marks this method for AI/agent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04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7B8A"/>
                </a:solidFill>
              </a:rPr>
              <a:t>label=  </a:t>
            </a:r>
            <a:r>
              <a:rPr sz="1100">
                <a:solidFill>
                  <a:srgbClr val="333333"/>
                </a:solidFill>
              </a:rPr>
              <a:t>Short friendly name displayed to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797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7B8A"/>
                </a:solidFill>
              </a:rPr>
              <a:t>description=  </a:t>
            </a:r>
            <a:r>
              <a:rPr sz="1100">
                <a:solidFill>
                  <a:srgbClr val="333333"/>
                </a:solidFill>
              </a:rPr>
              <a:t>The AI reads this! Be clear and specific.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552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7B8A"/>
                </a:solidFill>
              </a:rPr>
              <a:t>@InvocableVariable  </a:t>
            </a:r>
            <a:r>
              <a:rPr sz="1100">
                <a:solidFill>
                  <a:srgbClr val="333333"/>
                </a:solidFill>
              </a:rPr>
              <a:t>Marks input/output fields — include descriptions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307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7B8A"/>
                </a:solidFill>
              </a:rPr>
              <a:t>WITH USER_MODE  </a:t>
            </a:r>
            <a:r>
              <a:rPr sz="1100">
                <a:solidFill>
                  <a:srgbClr val="333333"/>
                </a:solidFill>
              </a:rPr>
              <a:t>Always include this in SOQL — respects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7B8A"/>
                </a:solidFill>
              </a:rPr>
              <a:t>Return insights  </a:t>
            </a:r>
            <a:r>
              <a:rPr sz="1100">
                <a:solidFill>
                  <a:srgbClr val="333333"/>
                </a:solidFill>
              </a:rPr>
              <a:t>Don't return raw fields — calculate useful info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325880"/>
            <a:ext cx="5760720" cy="521208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435607"/>
            <a:ext cx="5486400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dirty="0">
                <a:solidFill>
                  <a:srgbClr val="CCFFCC"/>
                </a:solidFill>
                <a:latin typeface="Courier New"/>
              </a:rPr>
              <a:t>global</a:t>
            </a:r>
            <a:r>
              <a:rPr sz="950" dirty="0">
                <a:solidFill>
                  <a:srgbClr val="CCFFCC"/>
                </a:solidFill>
                <a:latin typeface="Courier New"/>
              </a:rPr>
              <a:t> class </a:t>
            </a:r>
            <a:r>
              <a:rPr sz="950" dirty="0" err="1">
                <a:solidFill>
                  <a:srgbClr val="CCFFCC"/>
                </a:solidFill>
                <a:latin typeface="Courier New"/>
              </a:rPr>
              <a:t>AccountPipelineService</a:t>
            </a:r>
            <a:r>
              <a:rPr sz="950" dirty="0">
                <a:solidFill>
                  <a:srgbClr val="CCFFCC"/>
                </a:solidFill>
                <a:latin typeface="Courier New"/>
              </a:rPr>
              <a:t> {
  @InvocableMethod(
    label='Get Account Pipeline'
    description='Returns account name and open
      opportunities. Input: account name
      (partial is OK). Supports fuzzy matching.')
  public static List&lt;Output&gt;
    </a:t>
            </a:r>
            <a:r>
              <a:rPr sz="950" dirty="0" err="1">
                <a:solidFill>
                  <a:srgbClr val="CCFFCC"/>
                </a:solidFill>
                <a:latin typeface="Courier New"/>
              </a:rPr>
              <a:t>getAccountPipeline</a:t>
            </a:r>
            <a:r>
              <a:rPr sz="950" dirty="0">
                <a:solidFill>
                  <a:srgbClr val="CCFFCC"/>
                </a:solidFill>
                <a:latin typeface="Courier New"/>
              </a:rPr>
              <a:t>(List&lt;Input&gt; inputs) {
    List&lt;Account&gt; accts = [
      SELECT Id, Name,
        (SELECT Name, Amount, </a:t>
            </a:r>
            <a:r>
              <a:rPr sz="950" dirty="0" err="1">
                <a:solidFill>
                  <a:srgbClr val="CCFFCC"/>
                </a:solidFill>
                <a:latin typeface="Courier New"/>
              </a:rPr>
              <a:t>StageName</a:t>
            </a:r>
            <a:r>
              <a:rPr sz="950" dirty="0">
                <a:solidFill>
                  <a:srgbClr val="CCFFCC"/>
                </a:solidFill>
                <a:latin typeface="Courier New"/>
              </a:rPr>
              <a:t>
         FROM Opportunities
         WHERE </a:t>
            </a:r>
            <a:r>
              <a:rPr sz="950" dirty="0" err="1">
                <a:solidFill>
                  <a:srgbClr val="CCFFCC"/>
                </a:solidFill>
                <a:latin typeface="Courier New"/>
              </a:rPr>
              <a:t>IsClosed</a:t>
            </a:r>
            <a:r>
              <a:rPr sz="950" dirty="0">
                <a:solidFill>
                  <a:srgbClr val="CCFFCC"/>
                </a:solidFill>
                <a:latin typeface="Courier New"/>
              </a:rPr>
              <a:t> = false)
      FROM Account
      WHERE Name LIKE :('%' + inputs[0].</a:t>
            </a:r>
            <a:r>
              <a:rPr sz="950" dirty="0" err="1">
                <a:solidFill>
                  <a:srgbClr val="CCFFCC"/>
                </a:solidFill>
                <a:latin typeface="Courier New"/>
              </a:rPr>
              <a:t>accountName</a:t>
            </a:r>
            <a:r>
              <a:rPr sz="950" dirty="0">
                <a:solidFill>
                  <a:srgbClr val="CCFFCC"/>
                </a:solidFill>
                <a:latin typeface="Courier New"/>
              </a:rPr>
              <a:t> + '%')
      WITH USER_MODE LIMIT 5
    ];
    // build Output list here...
  }
  public class Input {
    @InvocableVariable(
      label='Account Name'
      description='Full or partial account name'
      required=true)
    public String </a:t>
            </a:r>
            <a:r>
              <a:rPr sz="950" dirty="0" err="1">
                <a:solidFill>
                  <a:srgbClr val="CCFFCC"/>
                </a:solidFill>
                <a:latin typeface="Courier New"/>
              </a:rPr>
              <a:t>accountName</a:t>
            </a:r>
            <a:r>
              <a:rPr sz="950" dirty="0">
                <a:solidFill>
                  <a:srgbClr val="CCFFCC"/>
                </a:solidFill>
                <a:latin typeface="Courier New"/>
              </a:rPr>
              <a:t>;
  }
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Step 2 – Deploy MCP Server Metadata  |  Step 3 – Activate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D7A"/>
                </a:solidFill>
              </a:rPr>
              <a:t>Create the Metadata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File: force-app/main/default/mcpServerDefinitions/
AccountPipelineMCP.mcpServerDefinition-meta.xml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5394960" cy="384048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350008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&lt;?xml version="1.0" encoding="UTF-8"?&gt;
&lt;MCP_ServerDefinition xmlns="..."&gt;
  &lt;description&gt;Provides account pipeline info.
    Use when users ask about accounts or deals.
  &lt;/description&gt;
  &lt;label&gt;Account Pipeline MCP Server&lt;/label&gt;
  &lt;tools&gt;
    &lt;toolName&gt;get_account_pipeline&lt;/toolName&gt;
    &lt;toolTitle&gt;Get Account Pipeline&lt;/toolTitle&gt;
    &lt;descriptionOverride&gt;
      Returns account name + open opportunities
      with amounts. Input: account name
      (partial or full). Supports fuzzy matching.
    &lt;/descriptionOverride&gt;
    &lt;apiDefinition&gt;
      AccountPipelineService.getAccountPipeline
    &lt;/apiDefinition&gt;
  &lt;/tools&gt;
&lt;/MCP_ServerDefinition&gt;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54864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7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7B8A"/>
                </a:solidFill>
              </a:rPr>
              <a:t>Key Metadata Fields – What Each One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63C5"/>
                </a:solidFill>
              </a:rPr>
              <a:t>description (server level)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57984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Helps AI decide if this server is relevant for the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63C5"/>
                </a:solidFill>
              </a:rPr>
              <a:t>toolName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9504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The code name the AI uses to call this specific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63C5"/>
                </a:solidFill>
              </a:rPr>
              <a:t>toolTitle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21024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Friendly display name shown in Setup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63C5"/>
                </a:solidFill>
              </a:rPr>
              <a:t>descriptionOverride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52544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MOST IMPORTANT: Tell AI what the tool returns, what input to provide, and any special behaviors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46320"/>
            <a:ext cx="5212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63C5"/>
                </a:solidFill>
              </a:rPr>
              <a:t>apiDefinition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84064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Points to: ClassName.methodName in your Apex 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7492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3D7A"/>
                </a:solidFill>
              </a:rPr>
              <a:t>Deploy with VS Code: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5394960"/>
            <a:ext cx="5212080" cy="59436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55046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Right-click file → Deploy This Source to Org
OR: sf project deploy start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7220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7A3D"/>
                </a:solidFill>
              </a:rPr>
              <a:t>Step 3: Go to Setup → MCP Servers → Find your server → Click Activate → Copy the Server URL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Step 4 – Create External Client App for OAuth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This is how AI tools authenticate with your Salesforce org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630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Setup → External Client App Manager → 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9202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Fill: App Name, Contact Email, 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774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Check: Enable OAuth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777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063C5"/>
                </a:solidFill>
              </a:rP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8346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Add Callback URLs (one per line):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337560"/>
            <a:ext cx="5029200" cy="822960"/>
          </a:xfrm>
          <a:prstGeom prst="rect">
            <a:avLst/>
          </a:prstGeom>
          <a:solidFill>
            <a:srgbClr val="1E1E2E"/>
          </a:solidFill>
          <a:ln w="9525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44728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CFFCC"/>
                </a:solidFill>
                <a:latin typeface="Courier New"/>
              </a:rPr>
              <a:t>https://claude.ai/api/mcp/auth_callback
cursor://anysphere.cursor-mcp/oauth/callback
https://oauth.pstmn.io/v1/callback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Step 5 – Add OAuth Scopes: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Access MCP servers (mcp_api)
  Perform requests at any time (refresh_token)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6636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333333"/>
                </a:solidFill>
              </a:rPr>
              <a:t>Step 6 – Security Settings: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  CHECK: Issue JWT-based access tokens
  CHECK: Require PKCE
  UNCHECK: Everything else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325880"/>
            <a:ext cx="54864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417320"/>
            <a:ext cx="5212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56B00"/>
                </a:solidFill>
              </a:rPr>
              <a:t>Important Notes for External Client 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965960"/>
            <a:ext cx="5120640" cy="685800"/>
          </a:xfrm>
          <a:prstGeom prst="rect">
            <a:avLst/>
          </a:prstGeom>
          <a:solidFill>
            <a:srgbClr val="FFF8EE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2039112"/>
            <a:ext cx="4846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The app takes UP TO 30 MINUTES to become active after creation. If connection fails, just wait and try again.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770632"/>
            <a:ext cx="5120640" cy="685800"/>
          </a:xfrm>
          <a:prstGeom prst="rect">
            <a:avLst/>
          </a:prstGeom>
          <a:solidFill>
            <a:srgbClr val="FFF8EE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2843784"/>
            <a:ext cx="4846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After clicking Create, go to Settings → Consumer Key and Secret. Copy the Consumer Key — you will need it to connect.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575303"/>
            <a:ext cx="5120640" cy="685800"/>
          </a:xfrm>
          <a:prstGeom prst="rect">
            <a:avLst/>
          </a:prstGeom>
          <a:solidFill>
            <a:srgbClr val="FFF8EE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3648456"/>
            <a:ext cx="4846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You can have MULTIPLE callback URLs. Add one for Claude AND one for Cursor in the same app.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379976"/>
            <a:ext cx="5120640" cy="685800"/>
          </a:xfrm>
          <a:prstGeom prst="rect">
            <a:avLst/>
          </a:prstGeom>
          <a:solidFill>
            <a:srgbClr val="FFF8EE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4453128"/>
            <a:ext cx="4846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If you get a 'URI mismatch' error, check that the exact callback URL is listed in your app.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5184648"/>
            <a:ext cx="5120640" cy="685800"/>
          </a:xfrm>
          <a:prstGeom prst="rect">
            <a:avLst/>
          </a:prstGeom>
          <a:solidFill>
            <a:srgbClr val="FFF8EE"/>
          </a:solidFill>
          <a:ln w="9525">
            <a:solidFill>
              <a:srgbClr val="E5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5257800"/>
            <a:ext cx="4846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For scratch orgs: create the app in Dev Hub, add to package, install in scratch org.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Step 5 – Connect Claude to Your Custom MCP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Only a few clicks once the server is active and the app is set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2920" y="1554480"/>
            <a:ext cx="502920" cy="50292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0876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Open claude.ai in your browser and log 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2920" y="2743200"/>
            <a:ext cx="502920" cy="50292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97479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Click your profile icon → Settings.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02920" y="3931920"/>
            <a:ext cx="502920" cy="50292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Find 'Connectors' and click 'Add custom connector'.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920" y="5120640"/>
            <a:ext cx="502920" cy="50292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7492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Paste the Server URL copied from
Setup → Integrations → MCP Servers.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46520" y="1554480"/>
            <a:ext cx="502920" cy="50292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50876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Paste the Consumer Key from your External Client App.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56032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46520" y="2743200"/>
            <a:ext cx="502920" cy="50292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697479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Click Connect. A Salesforce login page will appear.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749039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46520" y="3931920"/>
            <a:ext cx="502920" cy="50292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88620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Enter your Salesforce username + password → click Allow.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93776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6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46520" y="5120640"/>
            <a:ext cx="502920" cy="50292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5074920"/>
            <a:ext cx="45720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You are connected! Go to Claude chat and test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126480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7A3D"/>
                </a:solidFill>
              </a:rPr>
              <a:t>Test: In Claude chat, type 'Get the pipeline for Acme Corp'. If set up correctly, Claude will call your Apex class and return the data!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Module 2 Summary  +  Practice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9672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ABBFF"/>
                </a:solidFill>
              </a:rPr>
              <a:t>Headless 360  |  Module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3D7A"/>
                </a:solidFill>
              </a:rPr>
              <a:t>What You Learned in This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How to add and connect an MCP server in Cursor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Why Cursor stores tool definitions as JSON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How to fix callback URL / URI mismatch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How to restrict MCP access to specific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How to query MCP metadata using Tooling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How to write an Apex class with @InvocableMethod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How to deploy MCP Server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How to activate the server in Salesforce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How to create an External Client App for OAuth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  How to connect Claude to your custom MCP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25880"/>
            <a:ext cx="5486400" cy="5029200"/>
          </a:xfrm>
          <a:prstGeom prst="rect">
            <a:avLst/>
          </a:prstGeom>
          <a:solidFill>
            <a:srgbClr val="E8F7EC"/>
          </a:solidFill>
          <a:ln w="9525">
            <a:solidFill>
              <a:srgbClr val="00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417320"/>
            <a:ext cx="5212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7A3D"/>
                </a:solidFill>
              </a:rPr>
              <a:t>Practice Task (Do This on Your Own)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011680"/>
            <a:ext cx="5166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2066544"/>
            <a:ext cx="49377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Create an Apex class with @InvocableMethod for any use case:
(e.g., get open Cases, get top Opportunities, get Contacts)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651760"/>
            <a:ext cx="5166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2706624"/>
            <a:ext cx="49377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Write clear descriptions in @InvocableMethod and @InvocableVariable so the AI understands the tool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291840"/>
            <a:ext cx="5166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3346704"/>
            <a:ext cx="49377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Deploy the Apex class to your org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931920"/>
            <a:ext cx="5166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3986784"/>
            <a:ext cx="49377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Create the MCP Server metadata file and deploy 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572000"/>
            <a:ext cx="5166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4626864"/>
            <a:ext cx="49377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Activate the MCP Server in Setup → MCP Servers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212080"/>
            <a:ext cx="5166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5266944"/>
            <a:ext cx="49377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Connect Claude or Cursor to your new custom MCP 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852160"/>
            <a:ext cx="5166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AA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5907024"/>
            <a:ext cx="493776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Test it: ask a question in plain English and see if it works!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6446520"/>
            <a:ext cx="5212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1">
                <a:solidFill>
                  <a:srgbClr val="007A3D"/>
                </a:solidFill>
              </a:rPr>
              <a:t>Tip: Keep it simple first. 2-3 fields is enough to get it working.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2584</Words>
  <Application>Microsoft Office PowerPoint</Application>
  <PresentationFormat>Custom</PresentationFormat>
  <Paragraphs>235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Sim Aulakh</cp:lastModifiedBy>
  <cp:revision>1</cp:revision>
  <dcterms:created xsi:type="dcterms:W3CDTF">2013-01-27T09:14:16Z</dcterms:created>
  <dcterms:modified xsi:type="dcterms:W3CDTF">2026-05-24T13:14:48Z</dcterms:modified>
  <cp:category/>
</cp:coreProperties>
</file>