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 Aulakh" userId="d6babfaf87fe36d4" providerId="LiveId" clId="{B442A88C-B6CB-4329-AF62-B197A214B4A4}"/>
    <pc:docChg chg="modSld">
      <pc:chgData name="Sim Aulakh" userId="d6babfaf87fe36d4" providerId="LiveId" clId="{B442A88C-B6CB-4329-AF62-B197A214B4A4}" dt="2026-05-26T19:10:25.178" v="0" actId="20577"/>
      <pc:docMkLst>
        <pc:docMk/>
      </pc:docMkLst>
      <pc:sldChg chg="modSp mod">
        <pc:chgData name="Sim Aulakh" userId="d6babfaf87fe36d4" providerId="LiveId" clId="{B442A88C-B6CB-4329-AF62-B197A214B4A4}" dt="2026-05-26T19:10:25.178" v="0" actId="20577"/>
        <pc:sldMkLst>
          <pc:docMk/>
          <pc:sldMk cId="0" sldId="271"/>
        </pc:sldMkLst>
        <pc:spChg chg="mod">
          <ac:chgData name="Sim Aulakh" userId="d6babfaf87fe36d4" providerId="LiveId" clId="{B442A88C-B6CB-4329-AF62-B197A214B4A4}" dt="2026-05-26T19:10:25.178" v="0" actId="20577"/>
          <ac:spMkLst>
            <pc:docMk/>
            <pc:sldMk cId="0" sldId="271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00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AACCFF"/>
                </a:solidFill>
              </a:rPr>
              <a:t>Headless 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Using Claude CLI with Salesforce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CCDDFF"/>
                </a:solidFill>
              </a:rPr>
              <a:t>Claude Code CLI  •  MCP Config  •  OAuth  •  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88AADD"/>
                </a:solidFill>
              </a:rPr>
              <a:t>mytutorialrack.com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We Will Cover in 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Setup + Connect &amp; Use +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3949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53949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3D7A"/>
                </a:solidFill>
              </a:rPr>
              <a:t>PART 1 – Install and Configure Claude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93392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130552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 dirty="0">
                <a:solidFill>
                  <a:srgbClr val="333333"/>
                </a:solidFill>
              </a:rPr>
              <a:t>  What is Claude CLI</a:t>
            </a:r>
            <a:r>
              <a:rPr lang="en-US" sz="1200" b="0" i="0" dirty="0">
                <a:solidFill>
                  <a:srgbClr val="333333"/>
                </a:solidFill>
              </a:rPr>
              <a:t>?</a:t>
            </a:r>
            <a:endParaRPr sz="1200" b="0" i="0" dirty="0">
              <a:solidFill>
                <a:srgbClr val="33333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2660904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 dirty="0">
                <a:solidFill>
                  <a:srgbClr val="333333"/>
                </a:solidFill>
              </a:rPr>
              <a:t>  Install Claude CLI on Windows (</a:t>
            </a:r>
            <a:r>
              <a:rPr sz="1200" b="0" i="0" dirty="0" err="1">
                <a:solidFill>
                  <a:srgbClr val="333333"/>
                </a:solidFill>
              </a:rPr>
              <a:t>npm</a:t>
            </a:r>
            <a:r>
              <a:rPr sz="1200" b="0" i="0" dirty="0">
                <a:solidFill>
                  <a:srgbClr val="333333"/>
                </a:solidFill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91256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Set PATH environment 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2160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First launch and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Add Salesforce MCP to claude.json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3D7A"/>
                </a:solidFill>
              </a:rPr>
              <a:t>PART 2 – Connect, Authenticate and Best Practices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93392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130552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Authenticate + fix redirect URI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60904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Use /mcp command to explore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91256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BP 1–2: Salesforce security (sharing + OAuth)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2160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BP 3–6: Apex code safety (injection, limits)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5196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BP 7–10: Tool design (descriptions, errors)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82312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BP 11–14: Operations (keys, scopes, sandbox)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Claude CLI (Claude Code)?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Same AI — different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3949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63C5"/>
                </a:solidFill>
              </a:rPr>
              <a:t>Claude  (Web App)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Open in browser at claude.ai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Click and type — no terminal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88336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Good for general questions and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72384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MCP connectors added via Settings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56432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Great for beginners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53949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dirty="0">
                <a:solidFill>
                  <a:srgbClr val="007B8A"/>
                </a:solidFill>
              </a:rPr>
              <a:t>Claude CLI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Run from terminal / command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04288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Type: claude  to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88336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Supports slash commands (/mcp, /help, etc.)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72384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MCP servers configured in claude.json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56432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Preferred by developers and power 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20640"/>
            <a:ext cx="11430000" cy="640080"/>
          </a:xfrm>
          <a:prstGeom prst="rect">
            <a:avLst/>
          </a:prstGeom>
          <a:solidFill>
            <a:srgbClr val="E8F0FF"/>
          </a:solidFill>
          <a:ln w="9525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193792"/>
            <a:ext cx="11064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003D7A"/>
                </a:solidFill>
              </a:rPr>
              <a:t>Both use the same Claude AI model. The CLI (Claude Code) is simply the command-line version that gives developers more control — especially for MCP server configuration.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FFF3CD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201400" cy="41147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A3B00"/>
                </a:solidFill>
              </a:rPr>
              <a:t>  NOTE:  Claude CLI is installed separately from the Claude desktop app. You install it with npm and run it with the 'claude' command in any terminal.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PART 1 – Install Claude CLI on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Requires Node.js and npm to be installed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35607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8074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Open Command Prompt (cmd) or PowerShell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2821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Press Win + R, type cmd, press 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2316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53288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7802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Run the npm install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2549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Type the command below and press Enter. Wait for install to finish.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363016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7530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Close Command Prompt and reopen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After install, close CMD completely. Open a fresh CMD window.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472744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72583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Test: type  claude  and press 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2005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If installed correctly, Claude CLI starts. If you see 'not recognized', go to Slide 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325880"/>
            <a:ext cx="5303520" cy="68580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1435607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dirty="0" err="1">
                <a:solidFill>
                  <a:srgbClr val="CCFFCC"/>
                </a:solidFill>
                <a:latin typeface="Courier New"/>
              </a:rPr>
              <a:t>npm</a:t>
            </a:r>
            <a:r>
              <a:rPr sz="950" dirty="0">
                <a:solidFill>
                  <a:srgbClr val="CCFFCC"/>
                </a:solidFill>
                <a:latin typeface="Courier New"/>
              </a:rPr>
              <a:t> install -g @anthropic-ai/claude-code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1488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3D7A"/>
                </a:solidFill>
              </a:rPr>
              <a:t>What this command does: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56032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 npm install -g  =  install globally (for all users)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944368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 @anthropic-ai/claude-code  =  the official Claude CLI package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328415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 After install, the  claude  command becomes available everywhere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794760"/>
            <a:ext cx="5303520" cy="594360"/>
          </a:xfrm>
          <a:prstGeom prst="rect">
            <a:avLst/>
          </a:prstGeom>
          <a:solidFill>
            <a:srgbClr val="FFF3CD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3886200"/>
            <a:ext cx="5074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A3B00"/>
                </a:solidFill>
              </a:rPr>
              <a:t>  NOTE:  Node.js must already be installed on your computer. Download it from nodejs.org if you don't have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572000"/>
            <a:ext cx="5303520" cy="1691640"/>
          </a:xfrm>
          <a:prstGeom prst="rect">
            <a:avLst/>
          </a:prstGeom>
          <a:solidFill>
            <a:srgbClr val="F0FFF4"/>
          </a:solidFill>
          <a:ln w="9525">
            <a:solidFill>
              <a:srgbClr val="00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46634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A3D"/>
                </a:solidFill>
              </a:rPr>
              <a:t>How to check if Node.js is installed: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074920"/>
            <a:ext cx="5029200" cy="68580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51846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node --version
npm --version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8064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If you see a version number, you are ready.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Fix: Claude Command Not Recognized – Set PATH on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Only needed if 'claude' is not recognized after install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35607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8074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Open Environment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2821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Right-click 'This PC' &gt; Properties &gt; Advanced System Settings &gt; Environment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2316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53288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7802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Find 'Path' in System Variables (bottom list)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2549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Click 'Path' to select it, then click 'Edit'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363016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7530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Click 'New' and paste the Claude install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Add the path shown below. It is where Claude CLI was installed.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472744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72583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Click OK on all windows, then restart CMD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2005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Close all Command Prompt windows. Open a new one. Type 'claude' to test.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325880"/>
            <a:ext cx="566928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41732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63C5"/>
                </a:solidFill>
              </a:rPr>
              <a:t>Where Claude Gets Installed (Windows)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92024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Typical path (most machines):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194560"/>
            <a:ext cx="5303520" cy="384048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2240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CFFCC"/>
                </a:solidFill>
                <a:latin typeface="Courier New"/>
              </a:rPr>
              <a:t>C:\Users\YourName\AppData\Roaming\npm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88036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OR check with this command in CMD: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154680"/>
            <a:ext cx="5303520" cy="384048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32004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CFFCC"/>
                </a:solidFill>
                <a:latin typeface="Courier New"/>
              </a:rPr>
              <a:t>where claude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4048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OR ask Claude AI itself: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114800"/>
            <a:ext cx="5303520" cy="384048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41605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CFFCC"/>
                </a:solidFill>
                <a:latin typeface="Courier New"/>
              </a:rPr>
              <a:t>Copy the install message and ask Claude what path to 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5897880"/>
            <a:ext cx="5669280" cy="548640"/>
          </a:xfrm>
          <a:prstGeom prst="rect">
            <a:avLst/>
          </a:prstGeom>
          <a:solidFill>
            <a:srgbClr val="FFF3CD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5989320"/>
            <a:ext cx="5440680" cy="41147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A3B00"/>
                </a:solidFill>
              </a:rPr>
              <a:t>  NOTE:  After adding to PATH, you MUST close and reopen Command Prompt. The change does not apply to already-open windows.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First Launch of Claude CLI – Login and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Only needs to be done once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35607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8074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Open a new Command Prompt and type: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2821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Press Enter. Claude CLI starts for the first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2316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53288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7802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Choose your display theme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2549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Use arrow keys to select: Dark, Light, or Auto. Press Enter to confirm.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363016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7530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Select login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Choose 'Claude.ai account (for subscribers)'. Press Enter.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472744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72583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Authorize in the browser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2005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 browser window opens. Log in with your Claude account. Click 'Authorize'.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325880"/>
            <a:ext cx="56692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41732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What You Will See on First 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92024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Theme selection screen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19456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Arrow keys to move up/down. Press Enter to select. Pick Light or Dark.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74320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Login options screen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1752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Choose your Claude subscription type. For paid users: 'Claude.ai account'.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56616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Browser opens automatically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84048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OR: Claude gives you a URL to copy and open manually in your browser.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38912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Success message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66344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"You are all set up for Claude Code. You can now close this window."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21208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Back in terminal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48640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The prompt returns. Claude CLI is now ready. Type 'claude' anytime to start.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5897880"/>
            <a:ext cx="5669280" cy="502920"/>
          </a:xfrm>
          <a:prstGeom prst="rect">
            <a:avLst/>
          </a:prstGeom>
          <a:solidFill>
            <a:srgbClr val="FFF3CD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5989320"/>
            <a:ext cx="5440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A3B00"/>
                </a:solidFill>
              </a:rPr>
              <a:t>  NOTE:  After login, type  /  (slash) to see all commands. Use /mcp to manage MCP servers.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080760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333333"/>
                </a:solidFill>
              </a:rPr>
              <a:t>Once logged in, you can type any question directly in the terminal — just like the Claude web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691640"/>
          </a:xfrm>
          <a:prstGeom prst="rect">
            <a:avLst/>
          </a:prstGeom>
          <a:solidFill>
            <a:srgbClr val="00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AACCFF"/>
                </a:solidFill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Add Salesforce MCP to Claude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Configure claude.json  •  Authenticate  •  Use /mcp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206240"/>
            <a:ext cx="7589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 Step 1 – Open the claude.json config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626864"/>
            <a:ext cx="7589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 Step 2 – Add your Salesforce MCP server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047488"/>
            <a:ext cx="7589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 Step 3 – Restart Claude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468112"/>
            <a:ext cx="7589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 Step 4 – Authenticate with Salesforce via OAuth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888736"/>
            <a:ext cx="7589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 Step 5 – Use /mcp to explore and call your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Step 1 – Open the claude.json Config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This is where Claude CLI stores all your MCP server settings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35607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8074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Navigate to the .claude folder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2821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In File Explorer, go to:  C:\Users\YourName\.claude\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2316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53288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7802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Find and open the claude.json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2549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Open it in VS Code or any text editor. It is a JSON file.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363016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7530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Locate the mcpServers section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Find 'mcpServers' in the file. If it doesn't exist, add it inside the root {} object.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472744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72583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Add your Salesforce MCP server entry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2005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Add the config block shown on the right. Save the file (Ctrl+S).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3258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3D7A"/>
                </a:solidFill>
              </a:rPr>
              <a:t>Add this to your claude.json: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737360"/>
            <a:ext cx="5669280" cy="365760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1847088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{
  "mcpServers": {
    "sobject-read": {
      "type": "http",
      "url": "https://api.salesforce.com/platform
/mcp/v1/custom/YourMCPServerName",
      "oauth": {
        "clientId": "YOUR_CONSUMER_KEY_HERE",
        "callbackPort": 8082
      }
    }
  }
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5486400"/>
            <a:ext cx="5669280" cy="685800"/>
          </a:xfrm>
          <a:prstGeom prst="rect">
            <a:avLst/>
          </a:prstGeom>
          <a:solidFill>
            <a:srgbClr val="FFF3CD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5577840"/>
            <a:ext cx="5440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A3B00"/>
                </a:solidFill>
              </a:rPr>
              <a:t>  NOTE:  Replace 'YOUR_CONSUMER_KEY_HERE' with the Consumer Key from your Salesforce External Client App. Replace 'YourMCPServerName' with your server's DeveloperName.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Understanding the claude.json MCP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Different from Cursor config – uses type:http instead of npx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Each field in the config has a specific purpose. Here is what each one means: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B8A"/>
                </a:solidFill>
                <a:latin typeface="Courier New"/>
              </a:rPr>
              <a:t>"sobject-read"   </a:t>
            </a:r>
            <a:r>
              <a:rPr sz="1100">
                <a:solidFill>
                  <a:srgbClr val="333333"/>
                </a:solidFill>
              </a:rPr>
              <a:t>The name you give this MCP server in Claude CLI. Can be anything — keep it short and clear.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63C5"/>
                </a:solidFill>
                <a:latin typeface="Courier New"/>
              </a:rPr>
              <a:t>"type": "http"   </a:t>
            </a:r>
            <a:r>
              <a:rPr sz="1100">
                <a:solidFill>
                  <a:srgbClr val="333333"/>
                </a:solidFill>
              </a:rPr>
              <a:t>Tells Claude CLI to connect over HTTP (Salesforce hosted servers use HTTP, not local npx commands).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45535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63C5"/>
                </a:solidFill>
                <a:latin typeface="Courier New"/>
              </a:rPr>
              <a:t>"url"   </a:t>
            </a:r>
            <a:r>
              <a:rPr sz="1100">
                <a:solidFill>
                  <a:srgbClr val="333333"/>
                </a:solidFill>
              </a:rPr>
              <a:t>The MCP Server URL from Salesforce Setup → MCP Servers. Copied when you activated the server.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03903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A3D"/>
                </a:solidFill>
                <a:latin typeface="Courier New"/>
              </a:rPr>
              <a:t>"oauth": { }   </a:t>
            </a:r>
            <a:r>
              <a:rPr sz="1100">
                <a:solidFill>
                  <a:srgbClr val="333333"/>
                </a:solidFill>
              </a:rPr>
              <a:t>The authentication block. Tells Claude CLI to use OAuth to connect to Salesforce.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1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A3D"/>
                </a:solidFill>
                <a:latin typeface="Courier New"/>
              </a:rPr>
              <a:t>"clientId"   </a:t>
            </a:r>
            <a:r>
              <a:rPr sz="1100">
                <a:solidFill>
                  <a:srgbClr val="333333"/>
                </a:solidFill>
              </a:rPr>
              <a:t>Your Consumer Key from the External Client App you created in Salesforce.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3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A3D"/>
                </a:solidFill>
                <a:latin typeface="Courier New"/>
              </a:rPr>
              <a:t>"callbackPort": 8082   </a:t>
            </a:r>
            <a:r>
              <a:rPr sz="1100">
                <a:solidFill>
                  <a:srgbClr val="333333"/>
                </a:solidFill>
              </a:rPr>
              <a:t>The local port used to receive the OAuth callback after you log in. Default is 8082.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833872"/>
            <a:ext cx="11430000" cy="621792"/>
          </a:xfrm>
          <a:prstGeom prst="rect">
            <a:avLst/>
          </a:prstGeom>
          <a:solidFill>
            <a:srgbClr val="FFF3CD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5925312"/>
            <a:ext cx="11201400" cy="4846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A3B00"/>
                </a:solidFill>
              </a:rPr>
              <a:t>  NOTE:  IMPORTANT: Cursor uses 'command: npx' to run the MCP server locally. Claude CLI uses 'type: http' to connect to the Salesforce-hosted server directly. These are two different approaches — do not mix them 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Step 2 – Authenticate with Salesforce from Claude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After saving claude.json, restart Claude CLI and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35607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8074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Restart Claude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2821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Close the current CMD window. Open a new CMD and type: claude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2316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53288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7802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Type /mcp and press 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2549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This shows all configured MCP servers. You will see your new server listed.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363016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7530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Navigate to your server and press 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Use arrow keys to select 'sobject-read' (or your server name). Press Enter.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472744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72583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Select 'Authenticate' and press 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2005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Claude CLI will show 'Need authentication'. Select Authenticate.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325880"/>
            <a:ext cx="56692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41732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Authentication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92024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Browser opens automatically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19456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Claude CLI opens your default browser with a Salesforce login page.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74320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OR: Copy the URL manually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1752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If the browser doesn't open, Claude CLI gives you a URL. Copy it, paste in browser.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56616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Log in to Salesforce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84048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Enter your Salesforce username and password. Click 'Allow'.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38912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See success message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66344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Terminal shows: 'Authentication successful'. You are now connected!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21208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Go back and ask a question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48640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Press Escape to return to Claude CLI. Type any question about your Salesforce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Fix: Redirect URI Mismatch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A common error when authenticating Claude CLI with Salesforce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1430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If you see a 'redirect_uri_mismatch' or 'Redirect URI not allowed' error, follow these steps to fix it: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" y="198424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Understand the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7685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Claude CLI uses port 8082 for its OAuth callback. The callback URL 'http://localhost:8082/callback' must be registered in Salesforce.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7180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" y="308152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2666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Go to Setup → External Client App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7413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In Salesforce Setup, find your External Client App and click Edit.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6908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417880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2394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Add the Claude CLI callback 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7141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In the Callback URL field, add a new line with the URL shown below.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6636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7200" y="527608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2122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Save and try again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6869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Save the External Client App. Close the browser login tab. Re-authenticate in Claude CLI.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325880"/>
            <a:ext cx="56692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141732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56B00"/>
                </a:solidFill>
              </a:rPr>
              <a:t>Callback URLs to Add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920240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For Claude CLI (Claude Code):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286000"/>
            <a:ext cx="5303520" cy="50292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2395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http://localhost:8082/callback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926080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For Claude web app: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291840"/>
            <a:ext cx="5303520" cy="50292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340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https://claude.ai/api/mcp/auth_callback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931920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For Cursor: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297680"/>
            <a:ext cx="5303520" cy="50292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4074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cursor://anysphere.cursor-mcp/oauth/callback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937760"/>
            <a:ext cx="5669280" cy="685800"/>
          </a:xfrm>
          <a:prstGeom prst="rect">
            <a:avLst/>
          </a:prstGeom>
          <a:solidFill>
            <a:srgbClr val="FFF3CD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5029200"/>
            <a:ext cx="5440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A3B00"/>
                </a:solidFill>
              </a:rPr>
              <a:t>  NOTE:  You can add ALL three callback URLs to the same External Client App. This lets you use one app for Claude CLI, Claude web, and Cursor.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66928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333333"/>
                </a:solidFill>
              </a:rPr>
              <a:t>It may take 1-2 minutes after saving for Salesforce to accept the new URL.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Step 3 – Exploring MCP Tools with the /mcp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Use /mcp to manage servers and view available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The  /mcp  command is your control panel for all MCP servers in Claude CLI: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39496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63C5"/>
                </a:solidFill>
              </a:rPr>
              <a:t>Options Inside /mcp Menu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12064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View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5120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See all tools available in a server. Click to see each tool's name, description, and required inputs.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512064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Authenticate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64991"/>
            <a:ext cx="5120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Connect to the server via OAuth. A browser will open for Salesforce login.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86200"/>
            <a:ext cx="512064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Reauthenticate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42232"/>
            <a:ext cx="5120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Use when your session has expired or you switched Salesforce orgs.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512064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Reconnect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19472"/>
            <a:ext cx="5120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Re-establishes the server connection without full authentication.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79"/>
            <a:ext cx="512064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B8A"/>
                </a:solidFill>
              </a:rPr>
              <a:t>Disable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96712"/>
            <a:ext cx="5120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Temporarily disables the server without deleting the config.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783080"/>
            <a:ext cx="54864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What a Tool Entry Looks Like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8600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When you click 'View tools' and select a tool: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697480"/>
            <a:ext cx="5212080" cy="196596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2807208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Tool: get_account_pipeline
Description:
  Returns account name and open opportunities.
  Input: full or partial account name.
  Supports fuzzy matching.
Parameters:
  accountName (required, string)
    - Full or partial name of account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937760"/>
            <a:ext cx="5486400" cy="1417320"/>
          </a:xfrm>
          <a:prstGeom prst="rect">
            <a:avLst/>
          </a:prstGeom>
          <a:solidFill>
            <a:srgbClr val="E8F7EC"/>
          </a:solidFill>
          <a:ln w="9525">
            <a:solidFill>
              <a:srgbClr val="00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502920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A3D"/>
                </a:solidFill>
              </a:rPr>
              <a:t>Test Your Connection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94960"/>
            <a:ext cx="5212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After authenticating, press Escape to return to the main chat. Type: 'How many accounts do I have?'  —  Claude will call your Salesforce MCP tool and return the answer!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Best Practices 1–2 – Salesforce Access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Foundational rules: who can connect and what data they can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7B8A"/>
                </a:solidFill>
              </a:rPr>
              <a:t>Best Practice 1: Use  with sharing  in Apex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120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Always add  with sharing  to your Apex class declaration: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5212080" cy="77724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487168"/>
            <a:ext cx="49377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public with sharing class AccountPipelineService {
  ...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What it means: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WITHOUT 'with sharing'  →  Runs as SYSTEM (sees all data, ignores security)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05656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WITH 'with sharing'  →  Runs as the logged-in USER (respects all Salesforce security)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07992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MCP tool should only show data the user is allowed to see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1032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Always use 'with sharing' to be safe and follow security best practices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32588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63C5"/>
                </a:solidFill>
              </a:rPr>
              <a:t>Best Practice 2: Restrict MCP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20240"/>
            <a:ext cx="5120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By default, any user with the Client ID can connect. Restrict this: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23160"/>
            <a:ext cx="777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423160"/>
            <a:ext cx="4297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Go to Setup → External Client App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80360"/>
            <a:ext cx="777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880360"/>
            <a:ext cx="4297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Find your app and click 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37560"/>
            <a:ext cx="777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337560"/>
            <a:ext cx="4297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Go to OAuth Policies section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94760"/>
            <a:ext cx="777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794760"/>
            <a:ext cx="4297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Change: 'All users may self-authorize'
         → 'Admin approved users are pre-authorized'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251960"/>
            <a:ext cx="777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251960"/>
            <a:ext cx="4297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Add specific Profiles or Permission 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09160"/>
            <a:ext cx="777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709160"/>
            <a:ext cx="4297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Save — now only approved users can connect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394960"/>
            <a:ext cx="5394960" cy="685800"/>
          </a:xfrm>
          <a:prstGeom prst="rect">
            <a:avLst/>
          </a:prstGeom>
          <a:solidFill>
            <a:srgbClr val="FFF3CD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5486400"/>
            <a:ext cx="5166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A3B00"/>
                </a:solidFill>
              </a:rPr>
              <a:t>  NOTE:  Even with 'admin approved users', MCP still runs in the user's context. These two practices work together to provide layered security.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Best Practices 3–6 – Apex Code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Write Apex that is safe, predictable, and resistant to abuse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4864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BP 3 – Prevent SOQL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Never build SOQL by concatenating user input directly into a string: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5303520" cy="1298448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350008"/>
            <a:ext cx="5029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// WRONG – opens SOQL injection risk
String q = 'SELECT Id FROM Account WHERE Name = \'' + input + '\'';
// CORRECT – always use bind variables
String q = [SELECT Id FROM Account WHERE Name = :input];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2588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63C5"/>
                </a:solidFill>
              </a:rPr>
              <a:t>BP 4 – Use WITH USER_MODE in SOQL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Even with 'with sharing', field-level security is not enforced unless you add WITH USER_MODE to every SOQL query: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377440"/>
            <a:ext cx="5394960" cy="1161288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487168"/>
            <a:ext cx="51206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List&lt;Account&gt; accts = [
  SELECT Id, Name, Phone
  FROM Account
  WHERE Name LIKE :('%' + name + '%')
  WITH USER_MODE
  LIMIT 10
];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54864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A3D"/>
                </a:solidFill>
              </a:rPr>
              <a:t>BP 5 – Always Add LIMIT to SOQL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62272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Without LIMIT, a query could return thousands of records.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AI tools cannot handle massive data dumps gracefully.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30368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Large results hit Apex heap and governor limits.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14416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Keep it practical: LIMIT 5 to 20 is usually enough for AI responses.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93192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402336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56B00"/>
                </a:solidFill>
              </a:rPr>
              <a:t>BP 6 – Validate All Inputs Before Using Them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462272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Check that required fields are not null or blank.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8463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Trim whitespace from string inputs before using in SOQL.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23036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Throw a clear AuraHandledException if input is invalid.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614416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Return a meaningful message — don't let the AI guess what went wrong.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Best Practices 7–10 – Tool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How you write descriptions and structure tools defines how well the AI uses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486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BP 7 – Write Clear, Specific Tool Descriptions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2120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The AI reads your @InvocableMethod description to decide WHEN to call your tool. Vague descriptions = the tool never gets used.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5303520" cy="1389888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50292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// WEAK: AI won't know when to use this
description='Gets account data'
// STRONG: AI knows exactly when and how
description='Returns account name and open
opportunities. Input: partial or full
account name. Supports fuzzy matching.'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25880"/>
            <a:ext cx="56692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63C5"/>
                </a:solidFill>
              </a:rPr>
              <a:t>BP 8 – Return Processed Data, Not Raw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53949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Do the calculation in Apex before returning — don't dump raw Salesforce fields and expect the AI to figure out what they mean.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Instead of returning 12 raw fields, return a summary string.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1576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Pre-format currency: '$45,000' is clearer than '45000.0'.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99815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Combine related fields: 'Acme Corp — 3 open deals ($120K)'.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483863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Smaller, cleaner output = faster AI response, less token cost.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4864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11480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D7A"/>
                </a:solidFill>
              </a:rPr>
              <a:t>BP 9 – One Tool = One Responsibility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53712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Don't build one giant tool that does accounts, cases, and opps.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3776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Split into: get_account_pipeline, get_open_cases, get_top_opps.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21808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Small focused tools have better descriptions and are easier to maintain.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05856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The AI routes to the right tool more accurately when each is specific.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023360"/>
            <a:ext cx="56692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411480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56B00"/>
                </a:solidFill>
              </a:rPr>
              <a:t>BP 10 – Add Error Handling in Apex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2628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Wrap your logic in try-catch so the AI gets a clear error message, not a stack trace: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937760"/>
            <a:ext cx="5394960" cy="114300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5047488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try {
  // your query and logic here
} catch (Exception e) {
  Output o = new Output();
  o.result = 'Error: ' + e.getMessage();
  return new List&lt;Output&gt;{ o };
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Best Practices 11–14 – Operations and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How to manage, protect, and monitor your MCP server in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4864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C0000"/>
                </a:solidFill>
              </a:rPr>
              <a:t>BP 11 – Never Put the Consumer Key in Source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The Consumer Key (Client ID) is a credential. Treat it like a password.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58568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Never commit it to Git, Slack, or any shared document.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42615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Store it in a secure location (password manager, org notes, etc.).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26663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If it leaks, go to External Client App Manager and rotate it immediately.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10711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000" b="0" i="0" dirty="0">
              <a:solidFill>
                <a:srgbClr val="333333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26480" y="132588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4173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56B00"/>
                </a:solidFill>
              </a:rPr>
              <a:t>BP 12 – Request Minimum Required OAuth Scopes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28800"/>
            <a:ext cx="53949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Only add the scopes your MCP server actually needs. More scopes = more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31720"/>
            <a:ext cx="1188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mcp_api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359151"/>
            <a:ext cx="822960" cy="237744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0" y="2359151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331720"/>
            <a:ext cx="4023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Allows the AI tool to call MCP server 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770632"/>
            <a:ext cx="1188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refresh_token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798063"/>
            <a:ext cx="822960" cy="237744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0" y="2798063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770632"/>
            <a:ext cx="4023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Keeps the session alive without re-login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209544"/>
            <a:ext cx="1188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api / full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236975"/>
            <a:ext cx="822960" cy="23774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0" y="3236975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AVOID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209544"/>
            <a:ext cx="4023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Gives full API access — way more than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648456"/>
            <a:ext cx="1188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openid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675887"/>
            <a:ext cx="822960" cy="237744"/>
          </a:xfrm>
          <a:prstGeom prst="rect">
            <a:avLst/>
          </a:prstGeom>
          <a:solidFill>
            <a:srgbClr val="00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0" y="3675887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OPTIONAL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648456"/>
            <a:ext cx="4023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Only add if your tool needs user identity info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886200"/>
            <a:ext cx="54864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A3D"/>
                </a:solidFill>
              </a:rPr>
              <a:t>BP 13 – Always Test in Sandbox Before 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416552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Build and test your Apex class in a Sandbox or Scratch Org first.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0060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Sandbox MCP URL includes '/sandbox/': platform/mcp/v1/sandbox/custom/...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184648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Verify the tool works end-to-end before deploying to Production.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568696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Use a Sandbox External Client App (separate from Production).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52744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Change to Production URL only after full testing is complete.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88620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3977639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63C5"/>
                </a:solidFill>
              </a:rPr>
              <a:t>BP 14 – Monitor Who Is Connecting to Your MCP 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416552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Use Salesforce Login History to see OAuth logins from AI tools.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80060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Use Connected App Usage reports in Setup to audit activity.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18464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Add a custom Platform Event or log record in your Apex method.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568696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Know which users are using the tool and how often.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952744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Revoke access for users who should no longer have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Module 3 Summary  +  Practice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3D7A"/>
                </a:solidFill>
              </a:rPr>
              <a:t>What You Learned in This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Claude CLI vs Claude web — same AI, different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69363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Install Claude CLI with npm, set PATH if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29967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First launch: theme, login, browser 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90572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claude.json: add Salesforce MCP with type:http + oauth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51176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Authenticate via /mcp and fix redirect URI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11780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Use /mcp: view tools, reauthenticate, 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72384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1: with sharing in Apex (user context, not system)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32988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2: Admin approved users OAuth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93592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3: Prevent SOQL injection — always use bind 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54196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4: WITH USER_MODE enforces field-level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5: Always add LIMIT to SOQL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75404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6: Validate inputs; return clear error messages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36008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7: Write clear, specific @InvocableMethod descriptions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96612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8: Return processed data — not raw Salesforce 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57216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9: One tool = one responsibility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17820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10: Add try-catch error handling in Apex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678424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11: Keep Consumer Key out of source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39028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12: Request minimum required OAuth scopes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199632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13: Test in Sandbox before deploying to Production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60236"/>
            <a:ext cx="52578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•  BP 14: Monitor access via Login History + audit reports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325880"/>
            <a:ext cx="5486400" cy="5029200"/>
          </a:xfrm>
          <a:prstGeom prst="rect">
            <a:avLst/>
          </a:prstGeom>
          <a:solidFill>
            <a:srgbClr val="E8F7EC"/>
          </a:solidFill>
          <a:ln w="9525">
            <a:solidFill>
              <a:srgbClr val="00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1417320"/>
            <a:ext cx="5212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7A3D"/>
                </a:solidFill>
              </a:rPr>
              <a:t>Practice Task (Do This on Your Own)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965960"/>
            <a:ext cx="5166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2011679"/>
            <a:ext cx="49377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Install Claude CLI and complete the first-time login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523744"/>
            <a:ext cx="5166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2569463"/>
            <a:ext cx="49377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Edit claude.json and add your Salesforce MCP server config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081527"/>
            <a:ext cx="5166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3127247"/>
            <a:ext cx="49377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Add http://localhost:8082/callback to your External Client App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639311"/>
            <a:ext cx="5166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3685031"/>
            <a:ext cx="49377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Authenticate Claude CLI with your Salesforce org via /mcp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197096"/>
            <a:ext cx="5166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4242816"/>
            <a:ext cx="49377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Ask Claude CLI: 'How many accounts do I have in Salesforce?'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754880"/>
            <a:ext cx="5166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37960" y="4800600"/>
            <a:ext cx="49377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Add 'with sharing' + WITH USER_MODE to your Apex class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312664"/>
            <a:ext cx="5166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5358384"/>
            <a:ext cx="49377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Set OAuth policy to Admin approved users on your app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870448"/>
            <a:ext cx="5166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37960" y="5916168"/>
            <a:ext cx="49377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Audit your tool descriptions — are they specific enough?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6428232"/>
            <a:ext cx="5166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6473952"/>
            <a:ext cx="49377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Check: does each tool return processed data or raw records?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644652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007A3D"/>
                </a:solidFill>
              </a:rPr>
              <a:t>Tip: Keep your CMD window open and always restart it after editing claude.json.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3731</Words>
  <Application>Microsoft Office PowerPoint</Application>
  <PresentationFormat>Custom</PresentationFormat>
  <Paragraphs>354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Sim Aulakh</cp:lastModifiedBy>
  <cp:revision>2</cp:revision>
  <dcterms:created xsi:type="dcterms:W3CDTF">2013-01-27T09:14:16Z</dcterms:created>
  <dcterms:modified xsi:type="dcterms:W3CDTF">2026-05-26T19:10:33Z</dcterms:modified>
  <cp:category/>
</cp:coreProperties>
</file>